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1622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C69B3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DIGITAL HOUSE RENTAL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TAX MANAGEMENT SYSTEM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C6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41248" y="3520440"/>
            <a:ext cx="4206240" cy="0"/>
          </a:xfrm>
          <a:prstGeom prst="line">
            <a:avLst/>
          </a:prstGeom>
          <a:noFill/>
          <a:ln w="19050">
            <a:solidFill>
              <a:srgbClr val="3C4B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70332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platform connecting property owners, tenants, housing officers,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CF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officers and administrators across the residential rental lifecycle.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1264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C6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6391656"/>
            <a:ext cx="9601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E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Developer: Mubarek Hussein   |   University / Course: [insert]   |   Supervisor: [insert]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692640" y="612648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RHTMS?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digitizes Addis Ababa's residential rental lifecycle: property registration, tenant registration, rental agreements, housing-office review and approval, service-fee and tax payment, contract-agreement issuance with QR verification, and compliance/penalty tracking.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replaces a manual, paper-based, multi-office process with one shared system where five kinds of users each see only what their role needs.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it:</a:t>
            </a:r>
            <a:endParaRPr lang="en-US" sz="1500" dirty="0"/>
          </a:p>
          <a:p>
            <a:pPr lvl="1" marL="457200" indent="-2286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Owners register houses and create agreements  •  Tenants search listings and are registered onto agreements  •  Housing Officers review and approve  •  Tax Officers assess and collect rental tax  •  Super Admins configure policy and manage accounts.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benefit: submission, review, approval, payment, tax and termination all happen in one auditable system instead of scattered paperwork across offices.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Rental &amp; Tax Context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Residential rental registration and rental-income taxation in Addis Ababa are governed by real regulatory instruments used as the grounding for this project.</a:t>
            </a:r>
            <a:endParaRPr lang="en-US" sz="1400" dirty="0"/>
          </a:p>
          <a:p>
            <a:pPr lvl="1" marL="4572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Rent Control and Management Proclamation No. 1320/2016 — the underlying legal framework for rental regulation.</a:t>
            </a:r>
            <a:endParaRPr lang="en-US" sz="1400" dirty="0"/>
          </a:p>
          <a:p>
            <a:pPr lvl="1" marL="4572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Directive No. 184/2025 (Addis Ababa Housing Development and Management Bureau) — the Residential Rent Control and Management Directive; source for the registration workflow and administrative penalties (Article 22).</a:t>
            </a:r>
            <a:endParaRPr lang="en-US" sz="1400" dirty="0"/>
          </a:p>
          <a:p>
            <a:pPr lvl="1" marL="457200" indent="-2286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Tax (Amendment) Proclamation No. 1395/2025 — referenced basis for rental income tax administered by the Justice Bureau.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workflow has historically been paper-based and office-bound: registering an agreement, applying penalties, and assessing/paying tax happen as separate, disconnected steps with no shared digital record.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is a semester-project prototype that models this real workflow against one shared, auditable database.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RHTMS Addresses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processes — registration, approval and taxation are handled by separate offices with no shared record.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paperwork — property, tenant and agreement details are recorded on paper, with no structured, searchable history.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/ unclear approvals — an owner or tenant has no reliable way to see where a submission stands.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transparency in tax and penalty amounts — rules exist in directives but aren't applied consistently or visibly.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verifying rental agreements — no simple way for a third party to confirm a contract is genuine.</a:t>
            </a:r>
            <a:endParaRPr lang="en-US" sz="15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auditability — no consolidated trail of who approved, changed, or paid what, and when.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&amp; Specific Objectives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objective</a:t>
            </a:r>
            <a:endParaRPr lang="en-US" sz="1350" dirty="0"/>
          </a:p>
          <a:p>
            <a:pPr lvl="1" marL="457200" indent="-2286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 a single digital platform that manages the residential rental lifecycle — from property registration to tax compliance — connecting property owners, tenants, housing offices and tax offices under role-based access.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objectives</a:t>
            </a:r>
            <a:endParaRPr lang="en-US" sz="1350" dirty="0"/>
          </a:p>
          <a:p>
            <a:pPr lvl="1" marL="4572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property owners to register and manage properties and rental agreements digitally.</a:t>
            </a:r>
            <a:endParaRPr lang="en-US" sz="1350" dirty="0"/>
          </a:p>
          <a:p>
            <a:pPr lvl="1" marL="4572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tenants to search listed properties and be registered onto rental agreements.</a:t>
            </a:r>
            <a:endParaRPr lang="en-US" sz="1350" dirty="0"/>
          </a:p>
          <a:p>
            <a:pPr lvl="1" marL="4572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housing officers a review/approval workflow for property registrations and agreements.</a:t>
            </a:r>
            <a:endParaRPr lang="en-US" sz="1350" dirty="0"/>
          </a:p>
          <a:p>
            <a:pPr lvl="1" marL="4572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tax officers a way to assess and track rental-income tax against a configurable rate/rule, not hard-coded logic.</a:t>
            </a:r>
            <a:endParaRPr lang="en-US" sz="1350" dirty="0"/>
          </a:p>
          <a:p>
            <a:pPr lvl="1" marL="4572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verifiable digital contract agreement (with QR code) once an agreement is approved.</a:t>
            </a:r>
            <a:endParaRPr lang="en-US" sz="1350" dirty="0"/>
          </a:p>
          <a:p>
            <a:pPr lvl="1" marL="4572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role-based access control and record-level ownership so users can only act on their own records.</a:t>
            </a:r>
            <a:endParaRPr lang="en-US" sz="1350" dirty="0"/>
          </a:p>
          <a:p>
            <a:pPr lvl="1" marL="4572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a full audit trail of approvals, payments and status changes for accountability.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RHTMS Solves These Problems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649224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shared, database-backed system replaces paper records for every office involved in the rental lifecycle.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configurable rules engine (tax rate, penalty amounts, price ranges) lets an administrator update policy without a code change — instead of guessed figures hard-coded into the system.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 carries an explicit status (Draft → Submitted → Under Review → Approved/Rejected → Active → Terminated) that owners, tenants and officers can all see.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QR-coded contract agreement lets anyone verify a rental contract's authenticity without contacting an office.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log and in-app notifications give every party visibility into what happened and when.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52360" y="1463040"/>
            <a:ext cx="39776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52360" y="1463040"/>
            <a:ext cx="3977640" cy="82296"/>
          </a:xfrm>
          <a:prstGeom prst="roundRect">
            <a:avLst/>
          </a:prstGeom>
          <a:solidFill>
            <a:srgbClr val="2F5FA8"/>
          </a:solidFill>
          <a:ln/>
        </p:spPr>
      </p:sp>
      <p:sp>
        <p:nvSpPr>
          <p:cNvPr id="9" name="Text 7"/>
          <p:cNvSpPr/>
          <p:nvPr/>
        </p:nvSpPr>
        <p:spPr>
          <a:xfrm>
            <a:off x="7525512" y="1609344"/>
            <a:ext cx="38313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submits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9349740" y="2194560"/>
            <a:ext cx="182880" cy="237744"/>
          </a:xfrm>
          <a:prstGeom prst="downArrow">
            <a:avLst/>
          </a:prstGeom>
          <a:solidFill>
            <a:srgbClr val="D8DEE6"/>
          </a:solidFill>
          <a:ln/>
        </p:spPr>
      </p:sp>
      <p:sp>
        <p:nvSpPr>
          <p:cNvPr id="11" name="Shape 9"/>
          <p:cNvSpPr/>
          <p:nvPr/>
        </p:nvSpPr>
        <p:spPr>
          <a:xfrm>
            <a:off x="7452360" y="2414016"/>
            <a:ext cx="39776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2360" y="2414016"/>
            <a:ext cx="3977640" cy="82296"/>
          </a:xfrm>
          <a:prstGeom prst="roundRect">
            <a:avLst/>
          </a:prstGeom>
          <a:solidFill>
            <a:srgbClr val="1B7A7A"/>
          </a:solidFill>
          <a:ln/>
        </p:spPr>
      </p:sp>
      <p:sp>
        <p:nvSpPr>
          <p:cNvPr id="13" name="Text 11"/>
          <p:cNvSpPr/>
          <p:nvPr/>
        </p:nvSpPr>
        <p:spPr>
          <a:xfrm>
            <a:off x="7525512" y="2560320"/>
            <a:ext cx="38313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review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49740" y="3145536"/>
            <a:ext cx="182880" cy="237744"/>
          </a:xfrm>
          <a:prstGeom prst="downArrow">
            <a:avLst/>
          </a:prstGeom>
          <a:solidFill>
            <a:srgbClr val="D8DEE6"/>
          </a:solidFill>
          <a:ln/>
        </p:spPr>
      </p:sp>
      <p:sp>
        <p:nvSpPr>
          <p:cNvPr id="15" name="Shape 13"/>
          <p:cNvSpPr/>
          <p:nvPr/>
        </p:nvSpPr>
        <p:spPr>
          <a:xfrm>
            <a:off x="7452360" y="3364992"/>
            <a:ext cx="39776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52360" y="3364992"/>
            <a:ext cx="3977640" cy="82296"/>
          </a:xfrm>
          <a:prstGeom prst="roundRect">
            <a:avLst/>
          </a:prstGeom>
          <a:solidFill>
            <a:srgbClr val="C69B3C"/>
          </a:solidFill>
          <a:ln/>
        </p:spPr>
      </p:sp>
      <p:sp>
        <p:nvSpPr>
          <p:cNvPr id="17" name="Text 15"/>
          <p:cNvSpPr/>
          <p:nvPr/>
        </p:nvSpPr>
        <p:spPr>
          <a:xfrm>
            <a:off x="7525512" y="3511296"/>
            <a:ext cx="38313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+ Contract/QR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349740" y="4096512"/>
            <a:ext cx="182880" cy="237744"/>
          </a:xfrm>
          <a:prstGeom prst="downArrow">
            <a:avLst/>
          </a:prstGeom>
          <a:solidFill>
            <a:srgbClr val="D8DEE6"/>
          </a:solidFill>
          <a:ln/>
        </p:spPr>
      </p:sp>
      <p:sp>
        <p:nvSpPr>
          <p:cNvPr id="19" name="Shape 17"/>
          <p:cNvSpPr/>
          <p:nvPr/>
        </p:nvSpPr>
        <p:spPr>
          <a:xfrm>
            <a:off x="7452360" y="4315968"/>
            <a:ext cx="39776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2360" y="4315968"/>
            <a:ext cx="3977640" cy="82296"/>
          </a:xfrm>
          <a:prstGeom prst="roundRect">
            <a:avLst/>
          </a:prstGeom>
          <a:solidFill>
            <a:srgbClr val="B3432B"/>
          </a:solidFill>
          <a:ln/>
        </p:spPr>
      </p:sp>
      <p:sp>
        <p:nvSpPr>
          <p:cNvPr id="21" name="Text 19"/>
          <p:cNvSpPr/>
          <p:nvPr/>
        </p:nvSpPr>
        <p:spPr>
          <a:xfrm>
            <a:off x="7525512" y="4462272"/>
            <a:ext cx="38313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assessment &amp; payment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349740" y="5047488"/>
            <a:ext cx="182880" cy="237744"/>
          </a:xfrm>
          <a:prstGeom prst="downArrow">
            <a:avLst/>
          </a:prstGeom>
          <a:solidFill>
            <a:srgbClr val="D8DEE6"/>
          </a:solidFill>
          <a:ln/>
        </p:spPr>
      </p:sp>
      <p:sp>
        <p:nvSpPr>
          <p:cNvPr id="23" name="Shape 21"/>
          <p:cNvSpPr/>
          <p:nvPr/>
        </p:nvSpPr>
        <p:spPr>
          <a:xfrm>
            <a:off x="7452360" y="5266944"/>
            <a:ext cx="39776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52360" y="5266944"/>
            <a:ext cx="3977640" cy="82296"/>
          </a:xfrm>
          <a:prstGeom prst="roundRect">
            <a:avLst/>
          </a:prstGeom>
          <a:solidFill>
            <a:srgbClr val="2E7D4F"/>
          </a:solidFill>
          <a:ln/>
        </p:spPr>
      </p:sp>
      <p:sp>
        <p:nvSpPr>
          <p:cNvPr id="25" name="Text 23"/>
          <p:cNvSpPr/>
          <p:nvPr/>
        </p:nvSpPr>
        <p:spPr>
          <a:xfrm>
            <a:off x="7525512" y="5413248"/>
            <a:ext cx="383133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Active, auditable record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&amp; ROLES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RHTMS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82296" cy="2148840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" y="15819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Owner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58952" y="1984248"/>
            <a:ext cx="3108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properties, creates rental agreements, pays service fees, views tax status.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41732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417320"/>
            <a:ext cx="82296" cy="2148840"/>
          </a:xfrm>
          <a:prstGeom prst="rect">
            <a:avLst/>
          </a:prstGeom>
          <a:solidFill>
            <a:srgbClr val="1B7A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5819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53712" y="1984248"/>
            <a:ext cx="3108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listed properties, is registered onto agreements, pays rent-related fees, requests termination.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41732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92440" y="1417320"/>
            <a:ext cx="82296" cy="2148840"/>
          </a:xfrm>
          <a:prstGeom prst="rect">
            <a:avLst/>
          </a:prstGeom>
          <a:solidFill>
            <a:srgbClr val="C69B3C"/>
          </a:solidFill>
          <a:ln/>
        </p:spPr>
      </p:sp>
      <p:sp>
        <p:nvSpPr>
          <p:cNvPr id="16" name="Text 14"/>
          <p:cNvSpPr/>
          <p:nvPr/>
        </p:nvSpPr>
        <p:spPr>
          <a:xfrm>
            <a:off x="8348472" y="15819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Officer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48472" y="1984248"/>
            <a:ext cx="3108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Reviews/approves properties and agreements, reviews penalties, manages corrections and terminations.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947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794760"/>
            <a:ext cx="82296" cy="2148840"/>
          </a:xfrm>
          <a:prstGeom prst="rect">
            <a:avLst/>
          </a:prstGeom>
          <a:solidFill>
            <a:srgbClr val="B3432B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" y="39593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Officer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58952" y="4361688"/>
            <a:ext cx="3108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Assesses rental income tax, tracks overdue tax, reviews penalties, views payments.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97680" y="37947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3794760"/>
            <a:ext cx="82296" cy="214884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4" name="Text 22"/>
          <p:cNvSpPr/>
          <p:nvPr/>
        </p:nvSpPr>
        <p:spPr>
          <a:xfrm>
            <a:off x="4553712" y="39593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53712" y="4361688"/>
            <a:ext cx="3108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users, tax/penalty/price rules, system configuration, audit log and reports.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92440" y="3794760"/>
            <a:ext cx="3566160" cy="2148840"/>
          </a:xfrm>
          <a:prstGeom prst="roundRect">
            <a:avLst>
              <a:gd name="adj" fmla="val 4255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92440" y="3794760"/>
            <a:ext cx="82296" cy="21488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8348472" y="39593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/ Verifier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48472" y="4361688"/>
            <a:ext cx="31089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scan a contract's QR code to confirm it is a genuine, system-issued agreement — no login required.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&amp; Technology Stack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155680" cy="82296"/>
          </a:xfrm>
          <a:prstGeom prst="roundRect">
            <a:avLst/>
          </a:prstGeom>
          <a:solidFill>
            <a:srgbClr val="2F5FA8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563624"/>
            <a:ext cx="1100937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20440" y="1527048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App Router + React 19, Tailwind CSS v4, shadcn/ui (Base UI primitives), next-intl (English / Amharic / Afaan Oromoo)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9320" y="2276856"/>
            <a:ext cx="182880" cy="237744"/>
          </a:xfrm>
          <a:prstGeom prst="downArrow">
            <a:avLst/>
          </a:prstGeom>
          <a:solidFill>
            <a:srgbClr val="D8DEE6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2441448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441448"/>
            <a:ext cx="11155680" cy="82296"/>
          </a:xfrm>
          <a:prstGeom prst="roundRect">
            <a:avLst/>
          </a:prstGeom>
          <a:solidFill>
            <a:srgbClr val="1B7A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6072" y="2587752"/>
            <a:ext cx="1100937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Authorization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20440" y="2551176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Auth.js (NextAuth v5), credentials login + JWT sessions; central role-permission map re-checked on every action, plus record-level ownership checks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89320" y="3300984"/>
            <a:ext cx="182880" cy="237744"/>
          </a:xfrm>
          <a:prstGeom prst="downArrow">
            <a:avLst/>
          </a:prstGeom>
          <a:solidFill>
            <a:srgbClr val="D8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" y="3465576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465576"/>
            <a:ext cx="11155680" cy="82296"/>
          </a:xfrm>
          <a:prstGeom prst="roundRect">
            <a:avLst/>
          </a:prstGeom>
          <a:solidFill>
            <a:srgbClr val="C6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76072" y="3611880"/>
            <a:ext cx="1100937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/ Business Logic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20440" y="3575304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Actions + framework-independent service modules (property, agreement, payment, tax, penalty, audit, notifications) validated with Zod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89320" y="4325112"/>
            <a:ext cx="182880" cy="237744"/>
          </a:xfrm>
          <a:prstGeom prst="downArrow">
            <a:avLst/>
          </a:prstGeom>
          <a:solidFill>
            <a:srgbClr val="D8DEE6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" y="4489704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489704"/>
            <a:ext cx="11155680" cy="82296"/>
          </a:xfrm>
          <a:prstGeom prst="roundRect">
            <a:avLst/>
          </a:prstGeom>
          <a:solidFill>
            <a:srgbClr val="B3432B"/>
          </a:solidFill>
          <a:ln/>
        </p:spPr>
      </p:sp>
      <p:sp>
        <p:nvSpPr>
          <p:cNvPr id="23" name="Text 21"/>
          <p:cNvSpPr/>
          <p:nvPr/>
        </p:nvSpPr>
        <p:spPr>
          <a:xfrm>
            <a:off x="576072" y="4636008"/>
            <a:ext cx="1100937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520440" y="4599432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via Prisma 7 (driver-adapter client) — single schema, 21 models, the system's one source of truth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5349240"/>
            <a:ext cx="182880" cy="237744"/>
          </a:xfrm>
          <a:prstGeom prst="downArrow">
            <a:avLst/>
          </a:prstGeom>
          <a:solidFill>
            <a:srgbClr val="D8DEE6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5513832"/>
            <a:ext cx="11155680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5513832"/>
            <a:ext cx="11155680" cy="82296"/>
          </a:xfrm>
          <a:prstGeom prst="roundRect">
            <a:avLst/>
          </a:prstGeom>
          <a:solidFill>
            <a:srgbClr val="2E7D4F"/>
          </a:solidFill>
          <a:ln/>
        </p:spPr>
      </p:sp>
      <p:sp>
        <p:nvSpPr>
          <p:cNvPr id="28" name="Text 26"/>
          <p:cNvSpPr/>
          <p:nvPr/>
        </p:nvSpPr>
        <p:spPr>
          <a:xfrm>
            <a:off x="576072" y="5660136"/>
            <a:ext cx="11009376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/ Mock Services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520440" y="5623560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Multi-provider mock payment layer (CBE, Telebirr, Bank Transfer, Cash) behind a swappable PaymentProvider interface; QR generation for contract verification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 (as Implemented)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5448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2569464" cy="82296"/>
          </a:xfrm>
          <a:prstGeom prst="roundRect">
            <a:avLst/>
          </a:prstGeom>
          <a:solidFill>
            <a:srgbClr val="2F5FA8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70078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registers property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76072" y="23134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→ Submitted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90672" y="204368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1" name="Shape 9"/>
          <p:cNvSpPr/>
          <p:nvPr/>
        </p:nvSpPr>
        <p:spPr>
          <a:xfrm>
            <a:off x="3364992" y="155448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554480"/>
            <a:ext cx="2569464" cy="82296"/>
          </a:xfrm>
          <a:prstGeom prst="roundRect">
            <a:avLst/>
          </a:prstGeom>
          <a:solidFill>
            <a:srgbClr val="1B7A7A"/>
          </a:solidFill>
          <a:ln/>
        </p:spPr>
      </p:sp>
      <p:sp>
        <p:nvSpPr>
          <p:cNvPr id="13" name="Text 11"/>
          <p:cNvSpPr/>
          <p:nvPr/>
        </p:nvSpPr>
        <p:spPr>
          <a:xfrm>
            <a:off x="3438144" y="170078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review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38144" y="23134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/ reject / correction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52744" y="204368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6227064" y="155448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7064" y="1554480"/>
            <a:ext cx="2569464" cy="82296"/>
          </a:xfrm>
          <a:prstGeom prst="roundRect">
            <a:avLst/>
          </a:prstGeom>
          <a:solidFill>
            <a:srgbClr val="2F5FA8"/>
          </a:solidFill>
          <a:ln/>
        </p:spPr>
      </p:sp>
      <p:sp>
        <p:nvSpPr>
          <p:cNvPr id="18" name="Text 16"/>
          <p:cNvSpPr/>
          <p:nvPr/>
        </p:nvSpPr>
        <p:spPr>
          <a:xfrm>
            <a:off x="6300216" y="170078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creates agreement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00216" y="23134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registered tenant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14816" y="204368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21" name="Shape 19"/>
          <p:cNvSpPr/>
          <p:nvPr/>
        </p:nvSpPr>
        <p:spPr>
          <a:xfrm>
            <a:off x="9089136" y="155448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89136" y="1554480"/>
            <a:ext cx="2569464" cy="82296"/>
          </a:xfrm>
          <a:prstGeom prst="roundRect">
            <a:avLst/>
          </a:prstGeom>
          <a:solidFill>
            <a:srgbClr val="C69B3C"/>
          </a:solidFill>
          <a:ln/>
        </p:spPr>
      </p:sp>
      <p:sp>
        <p:nvSpPr>
          <p:cNvPr id="23" name="Text 21"/>
          <p:cNvSpPr/>
          <p:nvPr/>
        </p:nvSpPr>
        <p:spPr>
          <a:xfrm>
            <a:off x="9162288" y="170078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validation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62288" y="23134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if outside range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02920" y="297180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2971800"/>
            <a:ext cx="2569464" cy="82296"/>
          </a:xfrm>
          <a:prstGeom prst="roundRect">
            <a:avLst/>
          </a:prstGeom>
          <a:solidFill>
            <a:srgbClr val="B3432B"/>
          </a:solidFill>
          <a:ln/>
        </p:spPr>
      </p:sp>
      <p:sp>
        <p:nvSpPr>
          <p:cNvPr id="27" name="Text 25"/>
          <p:cNvSpPr/>
          <p:nvPr/>
        </p:nvSpPr>
        <p:spPr>
          <a:xfrm>
            <a:off x="576072" y="311810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fee payment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76072" y="373075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provider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090672" y="346100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30" name="Shape 28"/>
          <p:cNvSpPr/>
          <p:nvPr/>
        </p:nvSpPr>
        <p:spPr>
          <a:xfrm>
            <a:off x="3364992" y="297180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64992" y="2971800"/>
            <a:ext cx="2569464" cy="82296"/>
          </a:xfrm>
          <a:prstGeom prst="roundRect">
            <a:avLst/>
          </a:prstGeom>
          <a:solidFill>
            <a:srgbClr val="1B7A7A"/>
          </a:solidFill>
          <a:ln/>
        </p:spPr>
      </p:sp>
      <p:sp>
        <p:nvSpPr>
          <p:cNvPr id="32" name="Text 30"/>
          <p:cNvSpPr/>
          <p:nvPr/>
        </p:nvSpPr>
        <p:spPr>
          <a:xfrm>
            <a:off x="3438144" y="311810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approval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438144" y="373075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activation, same event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952744" y="346100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35" name="Shape 33"/>
          <p:cNvSpPr/>
          <p:nvPr/>
        </p:nvSpPr>
        <p:spPr>
          <a:xfrm>
            <a:off x="6227064" y="297180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27064" y="2971800"/>
            <a:ext cx="2569464" cy="82296"/>
          </a:xfrm>
          <a:prstGeom prst="roundRect">
            <a:avLst/>
          </a:prstGeom>
          <a:solidFill>
            <a:srgbClr val="C69B3C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311810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+ QR issued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300216" y="373075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publicly verifiable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814816" y="346100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40" name="Shape 38"/>
          <p:cNvSpPr/>
          <p:nvPr/>
        </p:nvSpPr>
        <p:spPr>
          <a:xfrm>
            <a:off x="9089136" y="297180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089136" y="2971800"/>
            <a:ext cx="2569464" cy="82296"/>
          </a:xfrm>
          <a:prstGeom prst="roundRect">
            <a:avLst/>
          </a:prstGeom>
          <a:solidFill>
            <a:srgbClr val="B3432B"/>
          </a:solidFill>
          <a:ln/>
        </p:spPr>
      </p:sp>
      <p:sp>
        <p:nvSpPr>
          <p:cNvPr id="42" name="Text 40"/>
          <p:cNvSpPr/>
          <p:nvPr/>
        </p:nvSpPr>
        <p:spPr>
          <a:xfrm>
            <a:off x="9162288" y="311810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assessment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162288" y="373075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rate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02920" y="438912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2920" y="4389120"/>
            <a:ext cx="2569464" cy="82296"/>
          </a:xfrm>
          <a:prstGeom prst="roundRect">
            <a:avLst/>
          </a:prstGeom>
          <a:solidFill>
            <a:srgbClr val="B3432B"/>
          </a:solidFill>
          <a:ln/>
        </p:spPr>
      </p:sp>
      <p:sp>
        <p:nvSpPr>
          <p:cNvPr id="46" name="Text 44"/>
          <p:cNvSpPr/>
          <p:nvPr/>
        </p:nvSpPr>
        <p:spPr>
          <a:xfrm>
            <a:off x="576072" y="453542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payment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576072" y="514807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provider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090672" y="48783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49" name="Shape 47"/>
          <p:cNvSpPr/>
          <p:nvPr/>
        </p:nvSpPr>
        <p:spPr>
          <a:xfrm>
            <a:off x="3364992" y="438912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364992" y="4389120"/>
            <a:ext cx="2569464" cy="82296"/>
          </a:xfrm>
          <a:prstGeom prst="roundRect">
            <a:avLst/>
          </a:prstGeom>
          <a:solidFill>
            <a:srgbClr val="2F5FA8"/>
          </a:solidFill>
          <a:ln/>
        </p:spPr>
      </p:sp>
      <p:sp>
        <p:nvSpPr>
          <p:cNvPr id="51" name="Text 49"/>
          <p:cNvSpPr/>
          <p:nvPr/>
        </p:nvSpPr>
        <p:spPr>
          <a:xfrm>
            <a:off x="3438144" y="453542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3438144" y="514807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in-app, event-triggered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952744" y="48783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54" name="Shape 52"/>
          <p:cNvSpPr/>
          <p:nvPr/>
        </p:nvSpPr>
        <p:spPr>
          <a:xfrm>
            <a:off x="6227064" y="438912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227064" y="4389120"/>
            <a:ext cx="2569464" cy="82296"/>
          </a:xfrm>
          <a:prstGeom prst="roundRect">
            <a:avLst/>
          </a:prstGeom>
          <a:solidFill>
            <a:srgbClr val="2E7D4F"/>
          </a:solidFill>
          <a:ln/>
        </p:spPr>
      </p:sp>
      <p:sp>
        <p:nvSpPr>
          <p:cNvPr id="56" name="Text 54"/>
          <p:cNvSpPr/>
          <p:nvPr/>
        </p:nvSpPr>
        <p:spPr>
          <a:xfrm>
            <a:off x="6300216" y="453542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agreement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300216" y="514807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renewals, price changes tracked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814816" y="48783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59" name="Shape 57"/>
          <p:cNvSpPr/>
          <p:nvPr/>
        </p:nvSpPr>
        <p:spPr>
          <a:xfrm>
            <a:off x="9089136" y="4389120"/>
            <a:ext cx="2569464" cy="1143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089136" y="4389120"/>
            <a:ext cx="2569464" cy="82296"/>
          </a:xfrm>
          <a:prstGeom prst="roundRect">
            <a:avLst/>
          </a:prstGeom>
          <a:solidFill>
            <a:srgbClr val="1B2A4A"/>
          </a:solidFill>
          <a:ln/>
        </p:spPr>
      </p:sp>
      <p:sp>
        <p:nvSpPr>
          <p:cNvPr id="61" name="Text 59"/>
          <p:cNvSpPr/>
          <p:nvPr/>
        </p:nvSpPr>
        <p:spPr>
          <a:xfrm>
            <a:off x="9162288" y="4535424"/>
            <a:ext cx="2423160" cy="612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9162288" y="514807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dual-party + officer approval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housing-officer approval and activation are the same event in this implementation — there is no separate "approved but not yet active" state.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REGISTRATION 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→ Housing Office → Approved Property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828800"/>
            <a:ext cx="25694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828800"/>
            <a:ext cx="2569464" cy="82296"/>
          </a:xfrm>
          <a:prstGeom prst="roundRect">
            <a:avLst/>
          </a:prstGeom>
          <a:solidFill>
            <a:srgbClr val="2F5FA8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975104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submits property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76072" y="267919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DRAFT → SUBMITTED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90672" y="23637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1" name="Shape 9"/>
          <p:cNvSpPr/>
          <p:nvPr/>
        </p:nvSpPr>
        <p:spPr>
          <a:xfrm>
            <a:off x="3364992" y="1828800"/>
            <a:ext cx="25694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828800"/>
            <a:ext cx="2569464" cy="82296"/>
          </a:xfrm>
          <a:prstGeom prst="roundRect">
            <a:avLst/>
          </a:prstGeom>
          <a:solidFill>
            <a:srgbClr val="1B7A7A"/>
          </a:solidFill>
          <a:ln/>
        </p:spPr>
      </p:sp>
      <p:sp>
        <p:nvSpPr>
          <p:cNvPr id="13" name="Text 11"/>
          <p:cNvSpPr/>
          <p:nvPr/>
        </p:nvSpPr>
        <p:spPr>
          <a:xfrm>
            <a:off x="3438144" y="1975104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officer reviews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38144" y="267919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Queue: /dashboard/housing/properties/pending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52744" y="23637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6227064" y="1828800"/>
            <a:ext cx="25694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7064" y="1828800"/>
            <a:ext cx="2569464" cy="82296"/>
          </a:xfrm>
          <a:prstGeom prst="roundRect">
            <a:avLst/>
          </a:prstGeom>
          <a:solidFill>
            <a:srgbClr val="C6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6300216" y="1975104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reject, or request correction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00216" y="267919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+ reason recorded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14816" y="23637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21" name="Shape 19"/>
          <p:cNvSpPr/>
          <p:nvPr/>
        </p:nvSpPr>
        <p:spPr>
          <a:xfrm>
            <a:off x="9089136" y="1828800"/>
            <a:ext cx="2569464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89136" y="1828800"/>
            <a:ext cx="2569464" cy="82296"/>
          </a:xfrm>
          <a:prstGeom prst="roundRect">
            <a:avLst/>
          </a:prstGeom>
          <a:solidFill>
            <a:srgbClr val="B3432B"/>
          </a:solidFill>
          <a:ln/>
        </p:spPr>
      </p:sp>
      <p:sp>
        <p:nvSpPr>
          <p:cNvPr id="23" name="Text 21"/>
          <p:cNvSpPr/>
          <p:nvPr/>
        </p:nvSpPr>
        <p:spPr>
          <a:xfrm>
            <a:off x="9162288" y="1975104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62288" y="267919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/ REJECTED / CORRECTION_REQUIRED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0080" y="342900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rejected or sent back for correction, the property returns to the owner, who can edit and resubmit — it is not a dead end.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an APPROVED (or already ACTIVE) property can be used to create a rental agreement — enforced in the agreement-creation service, not just hidden in the UI.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properties become visible in public property search for tenants.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 decision is recorded (PropertyReview) with the reviewing officer and reason, and written to the audit log.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AGREEMENT 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Owner/Tenant → Validation → Active → Termination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25694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737360"/>
            <a:ext cx="2569464" cy="82296"/>
          </a:xfrm>
          <a:prstGeom prst="roundRect">
            <a:avLst/>
          </a:prstGeom>
          <a:solidFill>
            <a:srgbClr val="2F5FA8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88366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creates agreement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76072" y="25420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approved property + registered tenant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90672" y="22494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1" name="Shape 9"/>
          <p:cNvSpPr/>
          <p:nvPr/>
        </p:nvSpPr>
        <p:spPr>
          <a:xfrm>
            <a:off x="3364992" y="1737360"/>
            <a:ext cx="25694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737360"/>
            <a:ext cx="2569464" cy="82296"/>
          </a:xfrm>
          <a:prstGeom prst="roundRect">
            <a:avLst/>
          </a:prstGeom>
          <a:solidFill>
            <a:srgbClr val="C69B3C"/>
          </a:solidFill>
          <a:ln/>
        </p:spPr>
      </p:sp>
      <p:sp>
        <p:nvSpPr>
          <p:cNvPr id="13" name="Text 11"/>
          <p:cNvSpPr/>
          <p:nvPr/>
        </p:nvSpPr>
        <p:spPr>
          <a:xfrm>
            <a:off x="3438144" y="188366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price validated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38144" y="25420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if outside configured range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52744" y="22494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6227064" y="1737360"/>
            <a:ext cx="25694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7064" y="1737360"/>
            <a:ext cx="2569464" cy="82296"/>
          </a:xfrm>
          <a:prstGeom prst="roundRect">
            <a:avLst/>
          </a:prstGeom>
          <a:solidFill>
            <a:srgbClr val="B3432B"/>
          </a:solidFill>
          <a:ln/>
        </p:spPr>
      </p:sp>
      <p:sp>
        <p:nvSpPr>
          <p:cNvPr id="18" name="Text 16"/>
          <p:cNvSpPr/>
          <p:nvPr/>
        </p:nvSpPr>
        <p:spPr>
          <a:xfrm>
            <a:off x="6300216" y="188366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fee paid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00216" y="25420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paid before approval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14816" y="22494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21" name="Shape 19"/>
          <p:cNvSpPr/>
          <p:nvPr/>
        </p:nvSpPr>
        <p:spPr>
          <a:xfrm>
            <a:off x="9089136" y="1737360"/>
            <a:ext cx="25694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89136" y="1737360"/>
            <a:ext cx="2569464" cy="82296"/>
          </a:xfrm>
          <a:prstGeom prst="roundRect">
            <a:avLst/>
          </a:prstGeom>
          <a:solidFill>
            <a:srgbClr val="1B7A7A"/>
          </a:solidFill>
          <a:ln/>
        </p:spPr>
      </p:sp>
      <p:sp>
        <p:nvSpPr>
          <p:cNvPr id="23" name="Text 21"/>
          <p:cNvSpPr/>
          <p:nvPr/>
        </p:nvSpPr>
        <p:spPr>
          <a:xfrm>
            <a:off x="9162288" y="188366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officer approves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62288" y="25420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ACTIVE + contract/QR issued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implementation the property owner creates the agreement directly for a tenant they've registered — a tenant-initiated "request to rent" flow is not yet built (see Limitations).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changes and renewals are recorded as versioned history (AgreementVersion), not silent overwrites — the original terms stay visible.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requires an initiating party (owner or tenant) and housing-officer approval — it isn't unilateral.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cross-owner ownership check blocks any owner from creating, editing, or terminating another owner's agreement — verified by an automated negative test.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MANAGEMENT 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→ Payment → Compliance Status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737360"/>
            <a:ext cx="25694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737360"/>
            <a:ext cx="2569464" cy="82296"/>
          </a:xfrm>
          <a:prstGeom prst="roundRect">
            <a:avLst/>
          </a:prstGeom>
          <a:solidFill>
            <a:srgbClr val="2F5FA8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" y="188366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agreement's rent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76072" y="25420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as a monthly figure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090672" y="22494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1" name="Shape 9"/>
          <p:cNvSpPr/>
          <p:nvPr/>
        </p:nvSpPr>
        <p:spPr>
          <a:xfrm>
            <a:off x="3364992" y="1737360"/>
            <a:ext cx="25694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737360"/>
            <a:ext cx="2569464" cy="82296"/>
          </a:xfrm>
          <a:prstGeom prst="roundRect">
            <a:avLst/>
          </a:prstGeom>
          <a:solidFill>
            <a:srgbClr val="B3432B"/>
          </a:solidFill>
          <a:ln/>
        </p:spPr>
      </p:sp>
      <p:sp>
        <p:nvSpPr>
          <p:cNvPr id="13" name="Text 11"/>
          <p:cNvSpPr/>
          <p:nvPr/>
        </p:nvSpPr>
        <p:spPr>
          <a:xfrm>
            <a:off x="3438144" y="188366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officer assesses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38144" y="25420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taxable amount × active rate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52744" y="22494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6227064" y="1737360"/>
            <a:ext cx="25694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7064" y="1737360"/>
            <a:ext cx="2569464" cy="82296"/>
          </a:xfrm>
          <a:prstGeom prst="roundRect">
            <a:avLst/>
          </a:prstGeom>
          <a:solidFill>
            <a:srgbClr val="1B7A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00216" y="188366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pays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00216" y="25420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payment provider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14816" y="2249424"/>
            <a:ext cx="256032" cy="164592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21" name="Shape 19"/>
          <p:cNvSpPr/>
          <p:nvPr/>
        </p:nvSpPr>
        <p:spPr>
          <a:xfrm>
            <a:off x="9089136" y="1737360"/>
            <a:ext cx="2569464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89136" y="1737360"/>
            <a:ext cx="2569464" cy="82296"/>
          </a:xfrm>
          <a:prstGeom prst="roundRect">
            <a:avLst/>
          </a:prstGeom>
          <a:solidFill>
            <a:srgbClr val="C69B3C"/>
          </a:solidFill>
          <a:ln/>
        </p:spPr>
      </p:sp>
      <p:sp>
        <p:nvSpPr>
          <p:cNvPr id="23" name="Text 21"/>
          <p:cNvSpPr/>
          <p:nvPr/>
        </p:nvSpPr>
        <p:spPr>
          <a:xfrm>
            <a:off x="9162288" y="1883664"/>
            <a:ext cx="24231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62288" y="2542032"/>
            <a:ext cx="242316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→ PAID / OVERDUE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0080" y="32461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rate is a configurable TaxRule row (seeded at 11.5%), not a hard-coded constant — an admin can activate a new rate at any time, and historical assessments keep the rate that applied when they were made.</a:t>
            </a:r>
            <a:endParaRPr lang="en-US" sz="13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i="1" dirty="0">
                <a:solidFill>
                  <a:srgbClr val="B3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11.5% figure comes from the original project interview, not a verified statutory rate — Proclamation No. 1395/2025 does not specify an exact percentage in the material available to this project, so the rate is explicitly a configurable placeholder, not a legally verified number.</a:t>
            </a:r>
            <a:endParaRPr lang="en-US" sz="13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tracking uses a configurable grace period (default 30 days after the assessment period ends).</a:t>
            </a:r>
            <a:endParaRPr lang="en-US" sz="1300" dirty="0"/>
          </a:p>
          <a:p>
            <a:pPr marL="228600" indent="-2286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Late-payment and compliance penalties (e.g. non-electronic rent payment) are grounded in Directive No. 184/2025, Article 22, expressed as a percentage of one month's rent.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WORKFLOW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Fee, Tax and Penalty Payments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11155680" cy="548640"/>
          </a:xfrm>
          <a:prstGeom prst="roundRect">
            <a:avLst>
              <a:gd name="adj" fmla="val 13333"/>
            </a:avLst>
          </a:prstGeom>
          <a:solidFill>
            <a:srgbClr val="FBEFE3"/>
          </a:solidFill>
          <a:ln w="12700">
            <a:solidFill>
              <a:srgbClr val="C69B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173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/ SIMULATED PAYMENT INTEGRATION — no real banking or mobile-money transaction ever occurs.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payment type in the system — service fee, tax, penalty — goes through the same mock multi-provider abstraction: CBE, Telebirr, Bank Transfer and Cash.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providers are mock/sandbox implementations that settle instantly behind a common PaymentProvider interface — a real integration could replace them without changing the rest of the application.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are recorded with status (INITIATED / COMPLETED / FAILED / REFUNDED), a reference number, and are tied to the specific agreement, tax assessment, or penalty they settle.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Directive No. 184/2025 requires rent to be paid via bank or electronic means (Article 21(8)); non-electronic payment is modeled as a penalty (Article 22(7)) — the CASH option is kept only for classroom-demo flexibility.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&amp; OFFICE COORDINATION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Offices Connect Through Shared Status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8968" y="1143000"/>
            <a:ext cx="1280160" cy="822960"/>
          </a:xfrm>
          <a:prstGeom prst="ellipse">
            <a:avLst/>
          </a:prstGeom>
          <a:solidFill>
            <a:srgbClr val="2F5FA8"/>
          </a:solidFill>
          <a:ln/>
        </p:spPr>
      </p:sp>
      <p:sp>
        <p:nvSpPr>
          <p:cNvPr id="7" name="Text 5"/>
          <p:cNvSpPr/>
          <p:nvPr/>
        </p:nvSpPr>
        <p:spPr>
          <a:xfrm>
            <a:off x="5458968" y="114300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686800" y="1920240"/>
            <a:ext cx="1280160" cy="822960"/>
          </a:xfrm>
          <a:prstGeom prst="ellipse">
            <a:avLst/>
          </a:prstGeom>
          <a:solidFill>
            <a:srgbClr val="1B7A7A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0" y="192024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589520" y="3749040"/>
            <a:ext cx="1280160" cy="822960"/>
          </a:xfrm>
          <a:prstGeom prst="ellipse">
            <a:avLst/>
          </a:prstGeom>
          <a:solidFill>
            <a:srgbClr val="C69B3C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0" y="374904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37560" y="3749040"/>
            <a:ext cx="1280160" cy="822960"/>
          </a:xfrm>
          <a:prstGeom prst="ellipse">
            <a:avLst/>
          </a:prstGeom>
          <a:solidFill>
            <a:srgbClr val="B3432B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374904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240280" y="1920240"/>
            <a:ext cx="1280160" cy="822960"/>
          </a:xfrm>
          <a:prstGeom prst="ellipse">
            <a:avLst/>
          </a:prstGeom>
          <a:solidFill>
            <a:srgbClr val="2E7D4F"/>
          </a:solidFill>
          <a:ln/>
        </p:spPr>
      </p:sp>
      <p:sp>
        <p:nvSpPr>
          <p:cNvPr id="15" name="Text 13"/>
          <p:cNvSpPr/>
          <p:nvPr/>
        </p:nvSpPr>
        <p:spPr>
          <a:xfrm>
            <a:off x="2240280" y="1920240"/>
            <a:ext cx="1280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21808" y="2331720"/>
            <a:ext cx="1554480" cy="9144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/>
          <p:nvPr/>
        </p:nvSpPr>
        <p:spPr>
          <a:xfrm>
            <a:off x="5321808" y="23317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89204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submits a property or agreement → status becomes SUBMITTED / UNDER_REVIEW, visible to Housing Office.</a:t>
            </a:r>
            <a:endParaRPr lang="en-US" sz="12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Office approves/rejects → the status change is what unlocks the next stage (agreement creation, contract issuance).</a:t>
            </a:r>
            <a:endParaRPr lang="en-US" sz="12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Office reads agreement/property data already in the system to assess tax — no re-entry of data between offices.</a:t>
            </a:r>
            <a:endParaRPr lang="en-US" sz="12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sets the policy (tax rate, penalty amounts, price rules) that both offices apply, and manages user accounts.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AUTHORIZATION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 in Depth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— Auth.js (NextAuth v5) with credentials login (bcrypt-hashed passwords) and JWT sessions; no session table, the signed cookie is the session.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a central permission map (PERMISSIONS / ROLE_PERMISSIONS) is the single source of truth for what each of the 5 roles may do; every server action re-checks it rather than trusting the UI.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Record-level authorization — ownership checks (e.g. assertOwnsProperty, assertPartyToAgreement) stop one owner from reading or writing another owner's property or agreement, verified by an automated negative test in the workflow-verification script.</a:t>
            </a:r>
            <a:endParaRPr lang="en-US" sz="135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Route-level role enforcement — every dashboard section is additionally gated so an authenticated user of one role cannot open another role's dashboard section by navigating directly to its URL.</a:t>
            </a:r>
            <a:endParaRPr lang="en-US" sz="1350" dirty="0"/>
          </a:p>
          <a:p>
            <a:pPr marL="228600" indent="-228600">
              <a:lnSpc>
                <a:spcPct val="125000"/>
              </a:lnSpc>
              <a:buSzPct val="100000"/>
              <a:buChar char="•"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— every write to a sensitive record (approvals, payments, rule changes) is logged with actor, action, and before/after values.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&amp; STATUS TRACKING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Everyone Informed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Implemented: in-app notifications, triggered automatically by real business events — property approval/rejection, agreement approval, payments, tax assessment, and penalty actions all create a Notification row for the affected user(s).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dashboard shows a live unread-notification badge and a notifications page listing full history, with mark-as-read / mark-all-read actions.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carries an explicit status field (e.g. SUBMITTED, UNDER_REVIEW, APPROVED, ACTIVE, OVERDUE, TERMINATED) so a user can see exactly where their submission stands without contacting an office.</a:t>
            </a:r>
            <a:endParaRPr lang="en-US" sz="1400" dirty="0"/>
          </a:p>
          <a:p>
            <a:pPr marL="228600" indent="-228600">
              <a:lnSpc>
                <a:spcPct val="125000"/>
              </a:lnSpc>
              <a:buSzPct val="100000"/>
              <a:buChar char="•"/>
            </a:pPr>
            <a:r>
              <a:rPr lang="en-US" sz="1400" i="1" dirty="0">
                <a:solidFill>
                  <a:srgbClr val="B3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implemented: scheduled/proactive reminders (e.g. "your tax is due in 3 days") and SMS/email delivery — notifications are event-triggered and in-app only. This is an explicit, known scope boundary, not a bug (see Limitations).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ADMINISTRATION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Super Admin Console Provides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— view all accounts and roles across the system.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Tax, penalty and price rule management — create a new active TaxRule / PenaltyRule / RentalPriceRule; the previous rule is deactivated, not deleted, preserving history for past assessments.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configuration — settings such as service-fee percentage and tax grace-period days.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— a searchable record of sensitive actions across the system.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— revenue collected (tax, service fees, penalties), active-agreement counts, and a 6-month revenue trend chart, all computed live from the database, not static mock numbers.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800600"/>
            <a:ext cx="265176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6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figure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94360" y="5319065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Collected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9184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4800600"/>
            <a:ext cx="265176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figure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83280" y="5319065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Fees Collected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8076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80760" y="4800600"/>
            <a:ext cx="265176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3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figure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172200" y="5319065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Penalties Collected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86968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4800600"/>
            <a:ext cx="265176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figure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961120" y="5319065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Agreements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5897880"/>
            <a:ext cx="11155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shown on the real Admin → Reports page are computed on demand from actual payment/agreement records.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SCREENSHOTS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From the Actual Running System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11155680" cy="594360"/>
          </a:xfrm>
          <a:prstGeom prst="roundRect">
            <a:avLst>
              <a:gd name="adj" fmla="val 12308"/>
            </a:avLst>
          </a:prstGeom>
          <a:solidFill>
            <a:srgbClr val="FBEFE3"/>
          </a:solidFill>
          <a:ln w="12700">
            <a:solidFill>
              <a:srgbClr val="C69B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1732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browser-automation/screenshot tool was available this session — screenshots below are placeholders. Capture each from the running app (npm run dev) before presenting.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28600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02920" y="2423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32004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/ public landing page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0" y="228600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2743200" y="2423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34640" y="32004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page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983480" y="228600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983480" y="2423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74920" y="32004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223760" y="228600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7223760" y="2423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0" y="32004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registration form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464040" y="228600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464040" y="2423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555480" y="320040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officer — pending property review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97764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50292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" y="48920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— property search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43200" y="397764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2743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834640" y="48920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agreement detail + contract/QR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983480" y="397764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98348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74920" y="48920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officer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223760" y="397764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722376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315200" y="48920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page (mock provider selection)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464040" y="3977640"/>
            <a:ext cx="2103120" cy="150876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946404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]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555480" y="48920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(reports/charts)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COVERAGE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 vs. Implementation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53312"/>
          <a:ext cx="1115568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55448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 registration &amp; housing review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submit → officer approve/reject/correction, status-gated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Tenant registration &amp; 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 or owner-initiated registration; public property search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Rental agreements + price validation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RentalPriceRule range check flags out-of-range rent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fee &amp; tax payment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69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workflow, mock CBE/Telebirr/Bank/Cash providers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agreement + QR verification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/verify/[token] page, no login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assessment (configurable rate)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*Rate is a configurable demo value (11.5%), not a verified statutory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Penalty rules &amp; recording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in Directive 184/2025, Art. 22 percentages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renewal / termination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Dual-party request + officer approval, versioned history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access control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permission map + per-request role enforcement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69B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In-app, event-triggered only — no SMS/email or scheduled reminders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Actor, action, before/after value logged on sensitive writes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reports &amp; rule management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revenue figures + tax/penalty/price rule console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Multi-language UI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/ Amharic / Afaan Oromoo, 173 keys in sync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upload for properties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4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Modeled in schema (PropertyDocument); no upload UI yet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Tenant-initiated "request to rent"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4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Implemented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currently creates the agreement directly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SOLVED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→ RHTMS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630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46304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2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paper-based registration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742432" y="1709928"/>
            <a:ext cx="457200" cy="219456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9" name="Shape 7"/>
          <p:cNvSpPr/>
          <p:nvPr/>
        </p:nvSpPr>
        <p:spPr>
          <a:xfrm>
            <a:off x="6355080" y="1463040"/>
            <a:ext cx="5303520" cy="713232"/>
          </a:xfrm>
          <a:prstGeom prst="roundRect">
            <a:avLst>
              <a:gd name="adj" fmla="val 8974"/>
            </a:avLst>
          </a:prstGeom>
          <a:solidFill>
            <a:srgbClr val="E8F3EC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46304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registration workflow with status tracking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28600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FBEAEA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28600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2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 approval status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42432" y="2532888"/>
            <a:ext cx="457200" cy="219456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55080" y="2286000"/>
            <a:ext cx="5303520" cy="713232"/>
          </a:xfrm>
          <a:prstGeom prst="roundRect">
            <a:avLst>
              <a:gd name="adj" fmla="val 8974"/>
            </a:avLst>
          </a:prstGeom>
          <a:solidFill>
            <a:srgbClr val="E8F3EC"/>
          </a:solidFill>
          <a:ln/>
        </p:spPr>
      </p:sp>
      <p:sp>
        <p:nvSpPr>
          <p:cNvPr id="15" name="Text 13"/>
          <p:cNvSpPr/>
          <p:nvPr/>
        </p:nvSpPr>
        <p:spPr>
          <a:xfrm>
            <a:off x="6537960" y="228600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status field visible to owner, tenant and officers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10896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FBEA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0896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2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Fragmented, office-siloed approval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42432" y="3355848"/>
            <a:ext cx="457200" cy="219456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55080" y="3108960"/>
            <a:ext cx="5303520" cy="713232"/>
          </a:xfrm>
          <a:prstGeom prst="roundRect">
            <a:avLst>
              <a:gd name="adj" fmla="val 8974"/>
            </a:avLst>
          </a:prstGeom>
          <a:solidFill>
            <a:srgbClr val="E8F3EC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10896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approval workflow on one shared record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FBEAEA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93192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2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 to verify a rental contract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42432" y="4178808"/>
            <a:ext cx="457200" cy="219456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24" name="Shape 22"/>
          <p:cNvSpPr/>
          <p:nvPr/>
        </p:nvSpPr>
        <p:spPr>
          <a:xfrm>
            <a:off x="6355080" y="3931920"/>
            <a:ext cx="5303520" cy="713232"/>
          </a:xfrm>
          <a:prstGeom prst="roundRect">
            <a:avLst>
              <a:gd name="adj" fmla="val 8974"/>
            </a:avLst>
          </a:prstGeom>
          <a:solidFill>
            <a:srgbClr val="E8F3EC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393192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QR-code contract verification, no login needed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475488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FBEAEA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75488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2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tax process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42432" y="5001768"/>
            <a:ext cx="457200" cy="219456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29" name="Shape 27"/>
          <p:cNvSpPr/>
          <p:nvPr/>
        </p:nvSpPr>
        <p:spPr>
          <a:xfrm>
            <a:off x="6355080" y="4754880"/>
            <a:ext cx="5303520" cy="713232"/>
          </a:xfrm>
          <a:prstGeom prst="roundRect">
            <a:avLst>
              <a:gd name="adj" fmla="val 8974"/>
            </a:avLst>
          </a:prstGeom>
          <a:solidFill>
            <a:srgbClr val="E8F3EC"/>
          </a:solidFill>
          <a:ln/>
        </p:spPr>
      </p:sp>
      <p:sp>
        <p:nvSpPr>
          <p:cNvPr id="30" name="Text 28"/>
          <p:cNvSpPr/>
          <p:nvPr/>
        </p:nvSpPr>
        <p:spPr>
          <a:xfrm>
            <a:off x="6537960" y="475488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assessment reads agreement data already in the system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5577840"/>
            <a:ext cx="5120640" cy="713232"/>
          </a:xfrm>
          <a:prstGeom prst="roundRect">
            <a:avLst>
              <a:gd name="adj" fmla="val 8974"/>
            </a:avLst>
          </a:prstGeom>
          <a:solidFill>
            <a:srgbClr val="FBEAEA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577840"/>
            <a:ext cx="47548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2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traceability of decisions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742432" y="5824728"/>
            <a:ext cx="457200" cy="219456"/>
          </a:xfrm>
          <a:prstGeom prst="rightArrow">
            <a:avLst/>
          </a:prstGeom>
          <a:solidFill>
            <a:srgbClr val="D8DEE6"/>
          </a:solidFill>
          <a:ln/>
        </p:spPr>
      </p:sp>
      <p:sp>
        <p:nvSpPr>
          <p:cNvPr id="34" name="Shape 32"/>
          <p:cNvSpPr/>
          <p:nvPr/>
        </p:nvSpPr>
        <p:spPr>
          <a:xfrm>
            <a:off x="6355080" y="5577840"/>
            <a:ext cx="5303520" cy="713232"/>
          </a:xfrm>
          <a:prstGeom prst="roundRect">
            <a:avLst>
              <a:gd name="adj" fmla="val 8974"/>
            </a:avLst>
          </a:prstGeom>
          <a:solidFill>
            <a:srgbClr val="E8F3EC"/>
          </a:solidFill>
          <a:ln/>
        </p:spPr>
      </p:sp>
      <p:sp>
        <p:nvSpPr>
          <p:cNvPr id="35" name="Text 33"/>
          <p:cNvSpPr/>
          <p:nvPr/>
        </p:nvSpPr>
        <p:spPr>
          <a:xfrm>
            <a:off x="6537960" y="5577840"/>
            <a:ext cx="4937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5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— actor, action, before/after value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Before This Presentation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2697480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106778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 passed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(typecheck, lint, i18n, workflow)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37560" y="141732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508760"/>
            <a:ext cx="2697480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429000" y="2106778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end-to-end lifecycle steps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against the live database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508760"/>
            <a:ext cx="2697480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63640" y="2106778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HTTP-traced across every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route (200, no errors)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006840" y="1417320"/>
            <a:ext cx="2697480" cy="1188720"/>
          </a:xfrm>
          <a:prstGeom prst="roundRect">
            <a:avLst>
              <a:gd name="adj" fmla="val 6154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06840" y="1508760"/>
            <a:ext cx="2697480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3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098280" y="2106778"/>
            <a:ext cx="251460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authorization bug found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fixed before this presentation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2880360"/>
            <a:ext cx="111556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Automated: npm run typecheck, lint, verify:i18n and verify:workflow all pass — the workflow script runs a real 16-step lifecycle (property → review → agreement → service fee → approval/contract issuance → QR lookup → cross-owner block → tax assessment → tax payment → price-change history → penalty → renewal → termination → audit trail → history preserved) against the actual Postgres database.</a:t>
            </a:r>
            <a:endParaRPr lang="en-US" sz="115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Manual/HTTP-level: every dashboard route for all 5 roles was requested with a real session cookie and returned HTTP 200 with correct content; logout correctly clears the session cookie; public QR verification correctly resolves genuine and bogus tokens.</a:t>
            </a:r>
            <a:endParaRPr lang="en-US" sz="1150" dirty="0"/>
          </a:p>
          <a:p>
            <a:pPr marL="228600" indent="-228600">
              <a:lnSpc>
                <a:spcPct val="125000"/>
              </a:lnSpc>
              <a:buSzPct val="100000"/>
              <a:buChar char="•"/>
            </a:pPr>
            <a:r>
              <a:rPr lang="en-US" sz="1150" b="1" dirty="0">
                <a:solidFill>
                  <a:srgbClr val="B3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fixed: authenticated users of one role could open another role's dashboard section (e.g. a Tenant viewing the Admin dashboard) by navigating directly to its URL — a real cross-role authorization gap. Fixed by enforcing the role check in the request middleware, then re-verified across all role combinations plus the full automated suite with no regressions.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IMPLEMENTATION STATUS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vs. Prototype vs. Future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2697480" cy="4892040"/>
          </a:xfrm>
          <a:prstGeom prst="roundRect">
            <a:avLst>
              <a:gd name="adj" fmla="val 2712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2697480" cy="365760"/>
          </a:xfrm>
          <a:prstGeom prst="roundRect">
            <a:avLst>
              <a:gd name="adj" fmla="val 20000"/>
            </a:avLst>
          </a:prstGeom>
          <a:solidFill>
            <a:srgbClr val="2E7D4F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173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874520"/>
            <a:ext cx="242316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role-based access control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registration &amp; review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agreements + price validation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agreement + QR verification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assessment (configurable rate)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 recording &amp; review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 / termination workflow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notifications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&amp; reports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/ Amharic / Afaan Oromoo UI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417320"/>
            <a:ext cx="2697480" cy="4892040"/>
          </a:xfrm>
          <a:prstGeom prst="roundRect">
            <a:avLst>
              <a:gd name="adj" fmla="val 2712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1417320"/>
            <a:ext cx="2697480" cy="365760"/>
          </a:xfrm>
          <a:prstGeom prst="roundRect">
            <a:avLst>
              <a:gd name="adj" fmla="val 20000"/>
            </a:avLst>
          </a:prstGeom>
          <a:solidFill>
            <a:srgbClr val="C6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4173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/ Mock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1874520"/>
            <a:ext cx="242316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(CBE, Telebirr, Bank, Cash) — all simulated, instant settlement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rate — configurable demo value, not a verified statutory rate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verification — officer-set boolean flag, no live Fayda/National-ID API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172200" y="1417320"/>
            <a:ext cx="2697480" cy="4892040"/>
          </a:xfrm>
          <a:prstGeom prst="roundRect">
            <a:avLst>
              <a:gd name="adj" fmla="val 2712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697480" cy="365760"/>
          </a:xfrm>
          <a:prstGeom prst="roundRect">
            <a:avLst>
              <a:gd name="adj" fmla="val 20000"/>
            </a:avLst>
          </a:prstGeom>
          <a:solidFill>
            <a:srgbClr val="2F5FA8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14173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Implemented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874520"/>
            <a:ext cx="242316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— event-triggered, in-app only (no SMS/email, no scheduled reminders)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06840" y="1417320"/>
            <a:ext cx="2697480" cy="4892040"/>
          </a:xfrm>
          <a:prstGeom prst="roundRect">
            <a:avLst>
              <a:gd name="adj" fmla="val 2712"/>
            </a:avLst>
          </a:prstGeom>
          <a:solidFill>
            <a:srgbClr val="F4F6F9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6840" y="1417320"/>
            <a:ext cx="2697480" cy="365760"/>
          </a:xfrm>
          <a:prstGeom prst="roundRect">
            <a:avLst>
              <a:gd name="adj" fmla="val 20000"/>
            </a:avLst>
          </a:prstGeom>
          <a:solidFill>
            <a:srgbClr val="B3432B"/>
          </a:solidFill>
          <a:ln/>
        </p:spPr>
      </p:sp>
      <p:sp>
        <p:nvSpPr>
          <p:cNvPr id="20" name="Text 18"/>
          <p:cNvSpPr/>
          <p:nvPr/>
        </p:nvSpPr>
        <p:spPr>
          <a:xfrm>
            <a:off x="9006840" y="141732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0" y="1874520"/>
            <a:ext cx="242316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document upload UI (modeled in schema, not built)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Tenant-initiated "request to rent" flow</a:t>
            </a:r>
            <a:endParaRPr lang="en-US" sz="950" dirty="0"/>
          </a:p>
          <a:p>
            <a:pPr marL="152400" indent="-1524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Automated/scheduled tests beyond the workflow script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Prototype Does Not (Yet) Do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integrations (CBE, Telebirr, bank transfer) are simulated — no real bank/mobile-money connection exists; a production deployment would need real gateway integration and PCI/financial compliance work.</a:t>
            </a:r>
            <a:endParaRPr lang="en-US" sz="13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rental-income tax rate (11.5%) is a configurable demo value from the original project interview, not confirmed against the exact text of Proclamation No. 1395/2025 — it must be verified/updated before any non-demo use.</a:t>
            </a:r>
            <a:endParaRPr lang="en-US" sz="13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verification is a manual officer decision (a checkbox), not a live government ID-verification API (e.g. Fayda).</a:t>
            </a:r>
            <a:endParaRPr lang="en-US" sz="13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are in-app and event-triggered only — there is no SMS/email delivery and no scheduled reminder job (e.g. "tax due in 3 days").</a:t>
            </a:r>
            <a:endParaRPr lang="en-US" sz="13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production deployment/hosting infrastructure exists — this runs as a local development prototype.</a:t>
            </a:r>
            <a:endParaRPr lang="en-US" sz="13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document upload (e.g. title deeds, ID scans) is modeled in the database schema but has no upload UI yet.</a:t>
            </a:r>
            <a:endParaRPr lang="en-US" sz="13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Directive 184/2025 Article 22.8's escalating vacancy-penalty schedule is not implemented — it would require tracking how long an approved property sits without an agreement, which the current schema does not automate.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F5FA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5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RHTMS Could Go Next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11155680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payment-gateway integration (CBE Birr, Telebirr, bank APIs) behind the existing PaymentProvider interface — no rework of the payment logic itself needed.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government identity verification (Fayda National ID) to replace the manual officer checkbox.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SMS/email delivery and scheduled reminders for upcoming tax due-dates and rent due-dates.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tenant-initiated "request to rent" flow, as an alternative to owner-only agreement creation.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upload for property titles/IDs, using the schema that already models it.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 deployment with proper hosting, backups and monitoring.</a:t>
            </a:r>
            <a:endParaRPr lang="en-US" sz="1400" dirty="0"/>
          </a:p>
          <a:p>
            <a:pPr marL="228600" indent="-2286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mobile application and advanced analytics/reporting for policy makers.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6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Ethiopian residential rental registration and taxation have relied on fragmented, paper-based processes across separate housing and tax offices, with weak status visibility and auditability.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RHTMS is a single, role-based platform that carries a property and its agreement from registration through housing approval, tax assessment, payment, and termination — on one shared, auditable record.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verified: the full 16-step lifecycle, role-based access control (including a critical cross-role bug found and fixed during this final review), record-level ownership checks, QR-based contract verification, and multi-language UI — all confirmed against the running system, not assumed.</a:t>
            </a:r>
            <a:endParaRPr lang="en-US" sz="1450" dirty="0"/>
          </a:p>
          <a:p>
            <a:pPr marL="228600" indent="-228600">
              <a:lnSpc>
                <a:spcPct val="125000"/>
              </a:lnSpc>
              <a:spcAft>
                <a:spcPts val="1800"/>
              </a:spcAft>
              <a:buSzPct val="100000"/>
              <a:buChar char="•"/>
            </a:pPr>
            <a:r>
              <a:rPr lang="en-US" sz="145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result: a working, demonstrable prototype with real business logic and a real (mock-labeled) payment layer — production-ready in workflow design, not yet in external integrations.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5029200"/>
            <a:ext cx="10881360" cy="0"/>
          </a:xfrm>
          <a:prstGeom prst="line">
            <a:avLst/>
          </a:prstGeom>
          <a:noFill/>
          <a:ln w="12700">
            <a:solidFill>
              <a:srgbClr val="3C4B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52578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digitizes and connects the rental and tax management process — turning a fragmented, paper-based workflow into one accountable, role-based, auditable system.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65288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RHTMS — Integrated Digital House Rental and Tax Management System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2026-09-15T15:33:38Z</dcterms:created>
  <dcterms:modified xsi:type="dcterms:W3CDTF">2026-09-15T15:33:38Z</dcterms:modified>
</cp:coreProperties>
</file>