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622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89320"/>
            <a:ext cx="12191695" cy="54864"/>
          </a:xfrm>
          <a:prstGeom prst="rect">
            <a:avLst/>
          </a:prstGeom>
          <a:solidFill>
            <a:srgbClr val="C69B3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DIGITAL HOUSE RENTAL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21284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TAX MANAGEMENT SYSTEM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C6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41248" y="3364992"/>
            <a:ext cx="4206240" cy="0"/>
          </a:xfrm>
          <a:prstGeom prst="line">
            <a:avLst/>
          </a:prstGeom>
          <a:noFill/>
          <a:ln w="19050">
            <a:solidFill>
              <a:srgbClr val="3C4B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54787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platform connecting property owners, tenants, housing offices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tax offices across the residential rental lifecycle.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4251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Management — Final 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1081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Mubarek Hussein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638251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Department: [Insert]   |   Course: [Insert]   |   Supervisor: [Insert]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92640" y="61081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Motivation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rental registration and taxation in Addis Ababa involve multiple offices: a housing administration bureau and a separate tax/revenue process.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our field investigation, we found the Addis Ababa Housing Development and Administration Bureau already operates a digital portal ("RHRCAS" / Mesob One-Stop-Shop) for landlord, tenant, house, and contract records, observed directly at two housing offices during our visit.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based on our interviews, tax-side verification of a rental agreement still depends on the physical, printed agreement being presented at the tax office — the two offices are not connected by a shared digital record.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grounding referenced in this project: Housing Rent Control and Management Proclamation No. 1320/2016; Addis Ababa Directive No. 184/2025 (Residential Rent Control and Management); Income Tax (Amendment) Proclamation No. 1395/2025.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motivated RHTMS: a prototype that models the full lifecycle — registration, housing approval, tenant registration, agreement, tax assessment, and payment — as one connected, role-based system.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our interviews and observations, we identified the following problems:</a:t>
            </a:r>
            <a:endParaRPr lang="en-US" sz="135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housing portal and the tax office are not connected — a physical agreement must be carried between offices for tax verification.</a:t>
            </a:r>
            <a:endParaRPr lang="en-US" sz="135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single, role-based workflow connects property owner, tenant, housing officer, and tax officer around one shared record.</a:t>
            </a:r>
            <a:endParaRPr lang="en-US" sz="135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 rental agreement's authenticity outside an office visit is difficult — there is no independent, self-service check.</a:t>
            </a:r>
            <a:endParaRPr lang="en-US" sz="1350" dirty="0"/>
          </a:p>
          <a:p>
            <a:pPr lvl="1" marL="4572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Rental-income tax calculation is easy to get wrong when the exact rule isn't clearly specified — our own early prototype briefly used an incorrect flat rate before it was corrected against a real published source (see Slide 16).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note: these findings come from a limited set of stakeholder interviews and site observations, not a comprehensive survey of every housing or tax office in Ethiopia.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PROCESS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Process and Identified Gaps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step (observed)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our project addresses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Housing/contract registration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digital portal (RHRCAS) already records landlords, tenants, houses, and contracts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connected to the tax office's own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physical, printed agreement is presented at the tax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digital handoff or shared record between housing and tax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authenticity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visually / manually by office staff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independent, self-service verification (e.g., QR code)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Cross-office status visibility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observed during our visits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shared dashboard across owner, tenant, housing, and tax roles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Rental-income tax calculation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by tax office staff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an incorrectly specified or applied rate without a structured, sourced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this does not mean the existing process is purely paper-based — a real digital housing portal exists (see Slide 6). The gap is the missing connection between housing records and tax verification.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Investigation and Data Collection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5577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group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we spoke with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Osman Muhammad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Solomon Hailu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 Officers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Getalem (Kirkos sub-city) · Meqdes (Lemi Kura sub-city)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Officers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Yimam Yimer · Dula (Arada sub-city)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1280160"/>
            <a:ext cx="53035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interviews:</a:t>
            </a:r>
            <a:endParaRPr lang="en-US" sz="115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existing rental registration and agreement process.</a:t>
            </a:r>
            <a:endParaRPr lang="en-US" sz="115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housing approval activities and tax document verification steps.</a:t>
            </a:r>
            <a:endParaRPr lang="en-US" sz="115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manual, disconnected, or repetitive steps.</a:t>
            </a:r>
            <a:endParaRPr lang="en-US" sz="115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tenants/owners interact with offices.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416052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findings (based on our interviews and observations):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housing portal already exists and is used at the housing offices we visited (Kirkos, Lemi Kura).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offices (Arada) still rely on the physical agreement being brought in for verification and assessment.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shared digital record linking housing-side registration to tax-side assessment.</a:t>
            </a:r>
            <a:endParaRPr lang="en-US" sz="11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directly shaped our requirements: QR-based public verification, role-based dashboards connecting housing and tax officers, and a structured, sourced tax-bracket assessment tied to the agreement record.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interviews and observations are a limited stakeholder sample used to inform this prototype's design — not a claim of representing every tenant, owner, or office in Ethiopia.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PROCESS EVIDENCE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System: A Digital Portal Already In Use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56616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7" name="Image 0" descr="/home/mubarek/Downloads/photo_2026-09-15_03-48-3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3474720" cy="2606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072" y="4023360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housing bureau's existing portal login screen, observed during our site visit.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06240" y="1325880"/>
            <a:ext cx="356616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10" name="Image 1" descr="/home/mubarek/Downloads/photo_2026-09-15_03-50-3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1371600"/>
            <a:ext cx="3474720" cy="2606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79392" y="4023360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"Register New Tenant" form — structured data entry already exists for tenant records.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909560" y="1325880"/>
            <a:ext cx="37490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13" name="Image 2" descr="/home/mubarek/Downloads/photo_2026-09-15_03-51-5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55280" y="1371600"/>
            <a:ext cx="3657600" cy="2606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82712" y="4023360"/>
            <a:ext cx="36027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live dashboard: 124,696 total contracts, 70,279 landlords, 89% service-fee collection rate.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502920" y="466344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the existing process is not purely manual: a real, operational government digital portal already handles landlord, tenant, house, and contract records at real scale.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limitation (from our interviews): this portal's records are not connected to the tax office's own verification and assessment step — that gap is what RHTMS's prototype targets.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PROCESS EVIDENCE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and the Physical Agreement Handoff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existing portal already serves English, Amharic, and Afaan Oromoo: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56616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8" name="Image 0" descr="/home/mubarek/Downloads/photo_2026-09-15_03-51-5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3474720" cy="1600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291840"/>
            <a:ext cx="341985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06240" y="1600200"/>
            <a:ext cx="356616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11" name="Image 1" descr="/home/mubarek/Downloads/photo_2026-09-15_03-53-1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1645920"/>
            <a:ext cx="3474720" cy="160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79392" y="3291840"/>
            <a:ext cx="341985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(አማርኛ)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909560" y="1600200"/>
            <a:ext cx="37490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14" name="Image 2" descr="/home/mubarek/Downloads/photo_2026-09-15_03-53-3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55280" y="1645920"/>
            <a:ext cx="3657600" cy="1600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82712" y="3291840"/>
            <a:ext cx="360273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Afaan Oromoo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02920" y="3703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echoes RHTMS's own English / Amharic / Afaan Oromoo interface (Slide 17).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02920" y="4114800"/>
            <a:ext cx="41148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18" name="Image 3" descr="/tmp/claude-1000/-home-mubarek-Desktop-SPM-Project-Integrated-rental-tax-management-system/308f6bef-17aa-4f32-b6df-0f8f7f3eb3fe/scratchpad/pptx-build/redacted/contract-redacted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4160520"/>
            <a:ext cx="4023360" cy="10515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6072" y="5257800"/>
            <a:ext cx="39684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rental agreement issued by the Addis Ababa Housing Development and Administration Bureau. Personal details (names, phone numbers, address, rent amount, signature/stamp) are redacted for privacy; only the document header/template is shown.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4846320" y="4114800"/>
            <a:ext cx="68122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physical agreement is prepared and presented during the existing administrative and tax-related process — consistent with what our tenant, owner, and officer interviews described.</a:t>
            </a:r>
            <a:endParaRPr lang="en-US" sz="11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observed evidence, not a claim that RHTMS has legally replaced this physical document or any government system.</a:t>
            </a:r>
            <a:endParaRPr lang="en-US" sz="11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motivated two concrete features: QR-based public contract verification, and a shared, structured tax-assessment record tied directly to the digital agreement.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and Project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50" dirty="0"/>
          </a:p>
          <a:p>
            <a:pPr lvl="1" marL="4572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shared, role-based, database-backed prototype connecting property owners, tenants, housing officers, and tax officers around the same agreement record — from registration through tax assessment.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</a:t>
            </a:r>
            <a:endParaRPr lang="en-US" sz="1250" dirty="0"/>
          </a:p>
          <a:p>
            <a:pPr lvl="1" marL="4572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digital platform modeling the residential rental lifecycle, connecting the roles identified in our stakeholder investigation under role-based access.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25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registration, housing review/approval, tenant registration, and rental agreements with price validation.</a:t>
            </a:r>
            <a:endParaRPr lang="en-US" sz="125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verifiable digital contract (QR code) and a sourced, progressive rental-income tax assessment.</a:t>
            </a:r>
            <a:endParaRPr lang="en-US" sz="125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with record-level ownership checks and a full audit trail.</a:t>
            </a:r>
            <a:endParaRPr lang="en-US" sz="125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 in English, Amharic, and Afaan Oromoo.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Stakeholders, and System Roles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73152" cy="2103120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7218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Owner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1837944"/>
            <a:ext cx="31546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properties, creates rental agreements, pays service fees, views tax status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32588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325880"/>
            <a:ext cx="73152" cy="210312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47218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1837944"/>
            <a:ext cx="31546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registered onto agreements, pays rent-related fees, requests termination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32588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325880"/>
            <a:ext cx="73152" cy="2103120"/>
          </a:xfrm>
          <a:prstGeom prst="rect">
            <a:avLst/>
          </a:prstGeom>
          <a:solidFill>
            <a:srgbClr val="C6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47218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Officer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21040" y="1837944"/>
            <a:ext cx="31546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Reviews/approves properties and agreements, reviews penalties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630168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630168"/>
            <a:ext cx="73152" cy="2103120"/>
          </a:xfrm>
          <a:prstGeom prst="rect">
            <a:avLst/>
          </a:prstGeom>
          <a:solidFill>
            <a:srgbClr val="B3432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764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Officer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" y="4142232"/>
            <a:ext cx="31546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rental-income tax against the active bracket table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0" y="3630168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3630168"/>
            <a:ext cx="73152" cy="210312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37764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26280" y="4142232"/>
            <a:ext cx="31546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tax brackets, penalty/price rules, audit log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2440" y="3630168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3630168"/>
            <a:ext cx="73152" cy="2103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37764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Verifier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21040" y="4142232"/>
            <a:ext cx="31546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 contract's QR code to confirm it is genuine — no login required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58064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the roles and workflow above, as a prototype. Out of scope: direct integration with the government RHRCAS portal or any real payment/banking network (see Limitations, Slide 19).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System Workflow (Implemented)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2596896" cy="73152"/>
          </a:xfrm>
          <a:prstGeom prst="roundRect">
            <a:avLst/>
          </a:prstGeom>
          <a:solidFill>
            <a:srgbClr val="2F5FA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4533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registration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121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submits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18104" y="1869948"/>
            <a:ext cx="219456" cy="146304"/>
          </a:xfrm>
          <a:prstGeom prst="rightArrow">
            <a:avLst/>
          </a:prstGeom>
          <a:solidFill>
            <a:srgbClr val="D8DEE6"/>
          </a:solidFill>
          <a:ln/>
        </p:spPr>
      </p:sp>
      <p:sp>
        <p:nvSpPr>
          <p:cNvPr id="11" name="Shape 9"/>
          <p:cNvSpPr/>
          <p:nvPr/>
        </p:nvSpPr>
        <p:spPr>
          <a:xfrm>
            <a:off x="3355848" y="141732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417320"/>
            <a:ext cx="2596896" cy="73152"/>
          </a:xfrm>
          <a:prstGeom prst="roundRect">
            <a:avLst/>
          </a:prstGeom>
          <a:solidFill>
            <a:srgbClr val="1B7A7A"/>
          </a:solidFill>
          <a:ln/>
        </p:spPr>
      </p:sp>
      <p:sp>
        <p:nvSpPr>
          <p:cNvPr id="13" name="Text 11"/>
          <p:cNvSpPr/>
          <p:nvPr/>
        </p:nvSpPr>
        <p:spPr>
          <a:xfrm>
            <a:off x="3419856" y="154533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approval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19856" y="2121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/ correction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71032" y="1869948"/>
            <a:ext cx="219456" cy="146304"/>
          </a:xfrm>
          <a:prstGeom prst="rightArrow">
            <a:avLst/>
          </a:prstGeom>
          <a:solidFill>
            <a:srgbClr val="D8DEE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08776" y="141732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8776" y="1417320"/>
            <a:ext cx="2596896" cy="73152"/>
          </a:xfrm>
          <a:prstGeom prst="roundRect">
            <a:avLst/>
          </a:prstGeom>
          <a:solidFill>
            <a:srgbClr val="2F5FA8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154533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registration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72784" y="2121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or owner-initiated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823960" y="1869948"/>
            <a:ext cx="219456" cy="146304"/>
          </a:xfrm>
          <a:prstGeom prst="rightArrow">
            <a:avLst/>
          </a:prstGeom>
          <a:solidFill>
            <a:srgbClr val="D8DEE6"/>
          </a:solidFill>
          <a:ln/>
        </p:spPr>
      </p:sp>
      <p:sp>
        <p:nvSpPr>
          <p:cNvPr id="21" name="Shape 19"/>
          <p:cNvSpPr/>
          <p:nvPr/>
        </p:nvSpPr>
        <p:spPr>
          <a:xfrm>
            <a:off x="9061704" y="141732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61704" y="1417320"/>
            <a:ext cx="2596896" cy="73152"/>
          </a:xfrm>
          <a:prstGeom prst="roundRect">
            <a:avLst/>
          </a:prstGeom>
          <a:solidFill>
            <a:srgbClr val="C69B3C"/>
          </a:solidFill>
          <a:ln/>
        </p:spPr>
      </p:sp>
      <p:sp>
        <p:nvSpPr>
          <p:cNvPr id="23" name="Text 21"/>
          <p:cNvSpPr/>
          <p:nvPr/>
        </p:nvSpPr>
        <p:spPr>
          <a:xfrm>
            <a:off x="9125712" y="154533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agreement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25712" y="2121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price validation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269748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697480"/>
            <a:ext cx="2596896" cy="73152"/>
          </a:xfrm>
          <a:prstGeom prst="roundRect">
            <a:avLst/>
          </a:prstGeom>
          <a:solidFill>
            <a:srgbClr val="B3432B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282549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fee (simulated)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4015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payment provider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18104" y="3150108"/>
            <a:ext cx="219456" cy="146304"/>
          </a:xfrm>
          <a:prstGeom prst="rightArrow">
            <a:avLst/>
          </a:prstGeom>
          <a:solidFill>
            <a:srgbClr val="D8DEE6"/>
          </a:solidFill>
          <a:ln/>
        </p:spPr>
      </p:sp>
      <p:sp>
        <p:nvSpPr>
          <p:cNvPr id="30" name="Shape 28"/>
          <p:cNvSpPr/>
          <p:nvPr/>
        </p:nvSpPr>
        <p:spPr>
          <a:xfrm>
            <a:off x="3355848" y="269748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5848" y="2697480"/>
            <a:ext cx="2596896" cy="73152"/>
          </a:xfrm>
          <a:prstGeom prst="roundRect">
            <a:avLst/>
          </a:prstGeom>
          <a:solidFill>
            <a:srgbClr val="1B7A7A"/>
          </a:solidFill>
          <a:ln/>
        </p:spPr>
      </p:sp>
      <p:sp>
        <p:nvSpPr>
          <p:cNvPr id="32" name="Text 30"/>
          <p:cNvSpPr/>
          <p:nvPr/>
        </p:nvSpPr>
        <p:spPr>
          <a:xfrm>
            <a:off x="3419856" y="282549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approval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19856" y="34015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activation, same event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71032" y="3150108"/>
            <a:ext cx="219456" cy="146304"/>
          </a:xfrm>
          <a:prstGeom prst="rightArrow">
            <a:avLst/>
          </a:prstGeom>
          <a:solidFill>
            <a:srgbClr val="D8DEE6"/>
          </a:solidFill>
          <a:ln/>
        </p:spPr>
      </p:sp>
      <p:sp>
        <p:nvSpPr>
          <p:cNvPr id="35" name="Shape 33"/>
          <p:cNvSpPr/>
          <p:nvPr/>
        </p:nvSpPr>
        <p:spPr>
          <a:xfrm>
            <a:off x="6208776" y="269748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08776" y="2697480"/>
            <a:ext cx="2596896" cy="73152"/>
          </a:xfrm>
          <a:prstGeom prst="roundRect">
            <a:avLst/>
          </a:prstGeom>
          <a:solidFill>
            <a:srgbClr val="C69B3C"/>
          </a:solidFill>
          <a:ln/>
        </p:spPr>
      </p:sp>
      <p:sp>
        <p:nvSpPr>
          <p:cNvPr id="37" name="Text 35"/>
          <p:cNvSpPr/>
          <p:nvPr/>
        </p:nvSpPr>
        <p:spPr>
          <a:xfrm>
            <a:off x="6272784" y="282549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+ QR verification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72784" y="34015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no login needed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823960" y="3150108"/>
            <a:ext cx="219456" cy="146304"/>
          </a:xfrm>
          <a:prstGeom prst="rightArrow">
            <a:avLst/>
          </a:prstGeom>
          <a:solidFill>
            <a:srgbClr val="D8DEE6"/>
          </a:solidFill>
          <a:ln/>
        </p:spPr>
      </p:sp>
      <p:sp>
        <p:nvSpPr>
          <p:cNvPr id="40" name="Shape 38"/>
          <p:cNvSpPr/>
          <p:nvPr/>
        </p:nvSpPr>
        <p:spPr>
          <a:xfrm>
            <a:off x="9061704" y="269748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61704" y="2697480"/>
            <a:ext cx="2596896" cy="73152"/>
          </a:xfrm>
          <a:prstGeom prst="roundRect">
            <a:avLst/>
          </a:prstGeom>
          <a:solidFill>
            <a:srgbClr val="B3432B"/>
          </a:solidFill>
          <a:ln/>
        </p:spPr>
      </p:sp>
      <p:sp>
        <p:nvSpPr>
          <p:cNvPr id="42" name="Text 40"/>
          <p:cNvSpPr/>
          <p:nvPr/>
        </p:nvSpPr>
        <p:spPr>
          <a:xfrm>
            <a:off x="9125712" y="282549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assessment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125712" y="34015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brackets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" y="397764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3977640"/>
            <a:ext cx="2596896" cy="73152"/>
          </a:xfrm>
          <a:prstGeom prst="roundRect">
            <a:avLst/>
          </a:prstGeom>
          <a:solidFill>
            <a:srgbClr val="B3432B"/>
          </a:solidFill>
          <a:ln/>
        </p:spPr>
      </p:sp>
      <p:sp>
        <p:nvSpPr>
          <p:cNvPr id="46" name="Text 44"/>
          <p:cNvSpPr/>
          <p:nvPr/>
        </p:nvSpPr>
        <p:spPr>
          <a:xfrm>
            <a:off x="566928" y="410565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payment (simulated)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66928" y="46817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payment provider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118104" y="4430268"/>
            <a:ext cx="219456" cy="146304"/>
          </a:xfrm>
          <a:prstGeom prst="rightArrow">
            <a:avLst/>
          </a:prstGeom>
          <a:solidFill>
            <a:srgbClr val="D8DEE6"/>
          </a:solidFill>
          <a:ln/>
        </p:spPr>
      </p:sp>
      <p:sp>
        <p:nvSpPr>
          <p:cNvPr id="49" name="Shape 47"/>
          <p:cNvSpPr/>
          <p:nvPr/>
        </p:nvSpPr>
        <p:spPr>
          <a:xfrm>
            <a:off x="3355848" y="397764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55848" y="3977640"/>
            <a:ext cx="2596896" cy="73152"/>
          </a:xfrm>
          <a:prstGeom prst="roundRect">
            <a:avLst/>
          </a:prstGeom>
          <a:solidFill>
            <a:srgbClr val="2F5FA8"/>
          </a:solidFill>
          <a:ln/>
        </p:spPr>
      </p:sp>
      <p:sp>
        <p:nvSpPr>
          <p:cNvPr id="51" name="Text 49"/>
          <p:cNvSpPr/>
          <p:nvPr/>
        </p:nvSpPr>
        <p:spPr>
          <a:xfrm>
            <a:off x="3419856" y="410565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419856" y="46817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In-app, event-triggered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971032" y="4430268"/>
            <a:ext cx="219456" cy="146304"/>
          </a:xfrm>
          <a:prstGeom prst="rightArrow">
            <a:avLst/>
          </a:prstGeom>
          <a:solidFill>
            <a:srgbClr val="D8DEE6"/>
          </a:solidFill>
          <a:ln/>
        </p:spPr>
      </p:sp>
      <p:sp>
        <p:nvSpPr>
          <p:cNvPr id="54" name="Shape 52"/>
          <p:cNvSpPr/>
          <p:nvPr/>
        </p:nvSpPr>
        <p:spPr>
          <a:xfrm>
            <a:off x="6208776" y="397764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08776" y="3977640"/>
            <a:ext cx="2596896" cy="73152"/>
          </a:xfrm>
          <a:prstGeom prst="roundRect">
            <a:avLst/>
          </a:prstGeom>
          <a:solidFill>
            <a:srgbClr val="1B2A4A"/>
          </a:solidFill>
          <a:ln/>
        </p:spPr>
      </p:sp>
      <p:sp>
        <p:nvSpPr>
          <p:cNvPr id="56" name="Text 54"/>
          <p:cNvSpPr/>
          <p:nvPr/>
        </p:nvSpPr>
        <p:spPr>
          <a:xfrm>
            <a:off x="6272784" y="410565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/ penalty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272784" y="46817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Recorded, reviewed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823960" y="4430268"/>
            <a:ext cx="219456" cy="146304"/>
          </a:xfrm>
          <a:prstGeom prst="rightArrow">
            <a:avLst/>
          </a:prstGeom>
          <a:solidFill>
            <a:srgbClr val="D8DEE6"/>
          </a:solidFill>
          <a:ln/>
        </p:spPr>
      </p:sp>
      <p:sp>
        <p:nvSpPr>
          <p:cNvPr id="59" name="Shape 57"/>
          <p:cNvSpPr/>
          <p:nvPr/>
        </p:nvSpPr>
        <p:spPr>
          <a:xfrm>
            <a:off x="9061704" y="397764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61704" y="3977640"/>
            <a:ext cx="2596896" cy="73152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61" name="Text 59"/>
          <p:cNvSpPr/>
          <p:nvPr/>
        </p:nvSpPr>
        <p:spPr>
          <a:xfrm>
            <a:off x="9125712" y="410565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125712" y="46817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Dual-party + officer approval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2920" y="5349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step is a simulated/mock provider (CBE, Telebirr, Bank Transfer, Cash) — no real transaction occurs. All other steps shown are implemented against the real database.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61872"/>
          <a:ext cx="111556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37744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Auth.js credentials + JWT sessions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permission map + middleware role gate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registration &amp;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submit → officer approve/reject/correction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registration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or owner-initiated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 agreement + price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Configured expected price ranges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 price-increase regulation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2-year wait, 11.5% cap — see Slide 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(prototype)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Progressive brackets, sourced (see Slide 16)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record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69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/ Simulated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multi-provider abstraction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/ public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/verify/[token] 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69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only; no SMS/email or scheduling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Actor, action, before/after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&amp; admin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revenue figures, rule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government/bank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4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implemented (planned)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Future 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authorized users act on records they own or their role covers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— see Slide 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sensitive change is traceable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— AuditLog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records never silently overwritten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— versioned agreement history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usable in the user's preferred language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— English/Amharic/Afaan Oromoo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rules changeable without a code deploy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— configurable database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logic verified without a browser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— automated validation scripts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/ Scalability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 and load under many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34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formally tested — future validation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2448" y="1371600"/>
            <a:ext cx="8686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52448" y="1371600"/>
            <a:ext cx="8686800" cy="73152"/>
          </a:xfrm>
          <a:prstGeom prst="round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816456" y="1499616"/>
            <a:ext cx="8558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16456" y="1828800"/>
            <a:ext cx="855878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owner, tenant, housing officer, tax officer, or admin, using a browser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13552" y="2194560"/>
            <a:ext cx="164592" cy="201168"/>
          </a:xfrm>
          <a:prstGeom prst="downArrow">
            <a:avLst/>
          </a:prstGeom>
          <a:solidFill>
            <a:srgbClr val="D8DEE6"/>
          </a:solidFill>
          <a:ln/>
        </p:spPr>
      </p:sp>
      <p:sp>
        <p:nvSpPr>
          <p:cNvPr id="11" name="Shape 9"/>
          <p:cNvSpPr/>
          <p:nvPr/>
        </p:nvSpPr>
        <p:spPr>
          <a:xfrm>
            <a:off x="1752448" y="2359152"/>
            <a:ext cx="8686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2448" y="2359152"/>
            <a:ext cx="8686800" cy="73152"/>
          </a:xfrm>
          <a:prstGeom prst="roundRect">
            <a:avLst/>
          </a:prstGeom>
          <a:solidFill>
            <a:srgbClr val="2F5FA8"/>
          </a:solidFill>
          <a:ln/>
        </p:spPr>
      </p:sp>
      <p:sp>
        <p:nvSpPr>
          <p:cNvPr id="13" name="Text 11"/>
          <p:cNvSpPr/>
          <p:nvPr/>
        </p:nvSpPr>
        <p:spPr>
          <a:xfrm>
            <a:off x="1816456" y="2487168"/>
            <a:ext cx="8558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 Interface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16456" y="2816352"/>
            <a:ext cx="855878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pages, role-based dashboards, forms, client interactions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13552" y="3182112"/>
            <a:ext cx="164592" cy="201168"/>
          </a:xfrm>
          <a:prstGeom prst="downArrow">
            <a:avLst/>
          </a:prstGeom>
          <a:solidFill>
            <a:srgbClr val="D8DEE6"/>
          </a:solidFill>
          <a:ln/>
        </p:spPr>
      </p:sp>
      <p:sp>
        <p:nvSpPr>
          <p:cNvPr id="16" name="Shape 14"/>
          <p:cNvSpPr/>
          <p:nvPr/>
        </p:nvSpPr>
        <p:spPr>
          <a:xfrm>
            <a:off x="1752448" y="3346704"/>
            <a:ext cx="8686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52448" y="3346704"/>
            <a:ext cx="8686800" cy="73152"/>
          </a:xfrm>
          <a:prstGeom prst="roundRect">
            <a:avLst/>
          </a:prstGeom>
          <a:solidFill>
            <a:srgbClr val="1B7A7A"/>
          </a:solidFill>
          <a:ln/>
        </p:spPr>
      </p:sp>
      <p:sp>
        <p:nvSpPr>
          <p:cNvPr id="18" name="Text 16"/>
          <p:cNvSpPr/>
          <p:nvPr/>
        </p:nvSpPr>
        <p:spPr>
          <a:xfrm>
            <a:off x="1816456" y="3474720"/>
            <a:ext cx="8558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Business Services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16456" y="3803904"/>
            <a:ext cx="855878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role-based authorization, validation, workflow and tax-calculation logic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13552" y="4169664"/>
            <a:ext cx="164592" cy="201168"/>
          </a:xfrm>
          <a:prstGeom prst="downArrow">
            <a:avLst/>
          </a:prstGeom>
          <a:solidFill>
            <a:srgbClr val="D8DEE6"/>
          </a:solidFill>
          <a:ln/>
        </p:spPr>
      </p:sp>
      <p:sp>
        <p:nvSpPr>
          <p:cNvPr id="21" name="Shape 19"/>
          <p:cNvSpPr/>
          <p:nvPr/>
        </p:nvSpPr>
        <p:spPr>
          <a:xfrm>
            <a:off x="1752448" y="4334256"/>
            <a:ext cx="8686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52448" y="4334256"/>
            <a:ext cx="8686800" cy="73152"/>
          </a:xfrm>
          <a:prstGeom prst="roundRect">
            <a:avLst/>
          </a:prstGeom>
          <a:solidFill>
            <a:srgbClr val="C69B3C"/>
          </a:solidFill>
          <a:ln/>
        </p:spPr>
      </p:sp>
      <p:sp>
        <p:nvSpPr>
          <p:cNvPr id="23" name="Text 21"/>
          <p:cNvSpPr/>
          <p:nvPr/>
        </p:nvSpPr>
        <p:spPr>
          <a:xfrm>
            <a:off x="1816456" y="4462272"/>
            <a:ext cx="8558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16456" y="4791456"/>
            <a:ext cx="855878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queries, migrations, data access layer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13552" y="5157216"/>
            <a:ext cx="164592" cy="201168"/>
          </a:xfrm>
          <a:prstGeom prst="downArrow">
            <a:avLst/>
          </a:prstGeom>
          <a:solidFill>
            <a:srgbClr val="D8DE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752448" y="5321808"/>
            <a:ext cx="8686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52448" y="5321808"/>
            <a:ext cx="8686800" cy="73152"/>
          </a:xfrm>
          <a:prstGeom prst="roundRect">
            <a:avLst/>
          </a:prstGeom>
          <a:solidFill>
            <a:srgbClr val="B3432B"/>
          </a:solidFill>
          <a:ln/>
        </p:spPr>
      </p:sp>
      <p:sp>
        <p:nvSpPr>
          <p:cNvPr id="28" name="Text 26"/>
          <p:cNvSpPr/>
          <p:nvPr/>
        </p:nvSpPr>
        <p:spPr>
          <a:xfrm>
            <a:off x="1816456" y="5449824"/>
            <a:ext cx="8558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816456" y="5779008"/>
            <a:ext cx="855878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all persisted data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layered, modular-monolith architecture — one deployable application, internally separated by responsibility. Not a microservices system.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Major Entities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5486400" cy="73152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904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OwnerProfile, TenantProfile, StaffProfile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3258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325880"/>
            <a:ext cx="5486400" cy="7315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4904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185623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Property, Ownership, PropertyDocument, PropertyReview, SubCity, Woreda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926080"/>
            <a:ext cx="5486400" cy="73152"/>
          </a:xfrm>
          <a:prstGeom prst="rect">
            <a:avLst/>
          </a:prstGeom>
          <a:solidFill>
            <a:srgbClr val="C6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906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45643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RentalAgreement, AgreementVersion, AgreementReview, RentalPriceRule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29260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926080"/>
            <a:ext cx="5486400" cy="73152"/>
          </a:xfrm>
          <a:prstGeom prst="rect">
            <a:avLst/>
          </a:prstGeom>
          <a:solidFill>
            <a:srgbClr val="B3432B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0906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45643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TaxRule, TaxBracket, TaxAssessment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526280"/>
            <a:ext cx="54864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6908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Payments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505663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PenaltyRule, Penalty, Payment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45262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4526280"/>
            <a:ext cx="5486400" cy="73152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46908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Audit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505663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Notification, AuditLog, SystemConfiguration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Prisma models in total. Key design choice: agreement price changes are versioned (AgreementVersion), never overwritten, and tax rates are stored as editable TaxBracket rows, not hard-coded.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and Team Collaboration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6949440" cy="73152"/>
          </a:xfrm>
          <a:prstGeom prst="roundRect">
            <a:avLst/>
          </a:prstGeom>
          <a:solidFill>
            <a:srgbClr val="2F5FA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453896"/>
            <a:ext cx="68214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assigned / discussed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95344" y="1865376"/>
            <a:ext cx="164592" cy="201168"/>
          </a:xfrm>
          <a:prstGeom prst="downArrow">
            <a:avLst/>
          </a:prstGeom>
          <a:solidFill>
            <a:srgbClr val="D8DEE6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984248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984248"/>
            <a:ext cx="6949440" cy="73152"/>
          </a:xfrm>
          <a:prstGeom prst="roundRect">
            <a:avLst/>
          </a:prstGeom>
          <a:solidFill>
            <a:srgbClr val="2F5FA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112264"/>
            <a:ext cx="68214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implements changes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95344" y="2523744"/>
            <a:ext cx="164592" cy="201168"/>
          </a:xfrm>
          <a:prstGeom prst="downArrow">
            <a:avLst/>
          </a:prstGeom>
          <a:solidFill>
            <a:srgbClr val="D8DE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642616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42616"/>
            <a:ext cx="6949440" cy="73152"/>
          </a:xfrm>
          <a:prstGeom prst="roundRect">
            <a:avLst/>
          </a:prstGeom>
          <a:solidFill>
            <a:srgbClr val="2F5FA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70632"/>
            <a:ext cx="68214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shared through GitHub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95344" y="3182112"/>
            <a:ext cx="164592" cy="201168"/>
          </a:xfrm>
          <a:prstGeom prst="downArrow">
            <a:avLst/>
          </a:prstGeom>
          <a:solidFill>
            <a:srgbClr val="D8DEE6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300984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00984"/>
            <a:ext cx="6949440" cy="73152"/>
          </a:xfrm>
          <a:prstGeom prst="roundRect">
            <a:avLst/>
          </a:prstGeom>
          <a:solidFill>
            <a:srgbClr val="2F5FA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429000"/>
            <a:ext cx="68214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review and feedback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95344" y="3840480"/>
            <a:ext cx="164592" cy="201168"/>
          </a:xfrm>
          <a:prstGeom prst="downArrow">
            <a:avLst/>
          </a:prstGeom>
          <a:solidFill>
            <a:srgbClr val="D8DEE6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959352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959352"/>
            <a:ext cx="6949440" cy="73152"/>
          </a:xfrm>
          <a:prstGeom prst="roundRect">
            <a:avLst/>
          </a:prstGeom>
          <a:solidFill>
            <a:srgbClr val="2F5FA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087368"/>
            <a:ext cx="68214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corrections, or approval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95344" y="4498848"/>
            <a:ext cx="164592" cy="201168"/>
          </a:xfrm>
          <a:prstGeom prst="downArrow">
            <a:avLst/>
          </a:prstGeom>
          <a:solidFill>
            <a:srgbClr val="D8DEE6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4617720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617720"/>
            <a:ext cx="6949440" cy="73152"/>
          </a:xfrm>
          <a:prstGeom prst="roundRect">
            <a:avLst/>
          </a:prstGeom>
          <a:solidFill>
            <a:srgbClr val="2F5FA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4745736"/>
            <a:ext cx="68214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integrated into the project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26680" y="1325880"/>
            <a:ext cx="39776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50" dirty="0"/>
          </a:p>
          <a:p>
            <a:pPr lvl="1" marL="4572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communicated through a Telegram group — sharing progress and informing others when work was completed.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50" dirty="0"/>
          </a:p>
          <a:p>
            <a:pPr lvl="1" marL="4572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was used for code collaboration. The repository uses feature branches (e.g. develop, feat/*) alongside main, with work reviewed before being integrated.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change process</a:t>
            </a:r>
            <a:endParaRPr lang="en-US" sz="1150" dirty="0"/>
          </a:p>
          <a:p>
            <a:pPr lvl="1" marL="4572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and changes were discussed before or during implementation; feedback and approval were communicated through the team group and the development workflow itself.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Scrum ceremonies (sprints, daily stand-ups, retrospectives) were used — this reflects our actual, lighter-weight process, not an oversight.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 and Major Developed Features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lifecycle — registration, housing review (approve/reject/correction), status-gated agreement creation.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lifecycle — creation, price validation, service-fee payment, housing approval → activation, contract/QR issuance, renewal, termination.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(prototype) — progressive rental-income tax brackets, sourced from PwC Worldwide Tax Summaries — Ethiopia; corrected during development from an earlier, incorrect flat-rate assumption.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price-increase regulation — a 2-year waiting period and an 11.5% cap on any rent increase, kept strictly separate from the tax calculation above.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(simulated) — a mock multi-provider abstraction (CBE, Telebirr, Bank Transfer, Cash); no real transaction occurs.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— in-app, triggered by real business events (approvals, payments, tax assessment, penalties).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— English, Amharic, Afaan Oromoo across the implemented workflow.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— user management, tax-bracket/penalty/price-rule management, audit log, live revenue reports.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Authentication, and Role-Based Access Control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Auth.js (NextAuth v5), credentials provider with bcrypt-hashed passwords, JWT session strategy.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a central permission map defines what each of the 5 roles may do; every server action re-checks it.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Record-level authorization — ownership checks stop one owner from reading or writing another owner's property or agreement.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Route-level role enforcement — every dashboard is gated in request middleware so one role cannot open another role's dashboard by navigating directly to its URL.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lesson: during a final review, a cross-role dashboard access issue was identified — a role-specific page guard was not being reliably re-checked on every request. It was corrected by enforcing the check in request middleware and re-verified across all five roles. This reflects that role-based access requires continuous testing, not a one-time implementation.</a:t>
            </a:r>
            <a:endParaRPr lang="en-US" sz="12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— every write to a sensitive record is logged with actor, action, and before/after values.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12648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2F5F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PROPERTY_OWNER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61488" y="612648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1B7A7A"/>
          </a:solidFill>
          <a:ln/>
        </p:spPr>
      </p:sp>
      <p:sp>
        <p:nvSpPr>
          <p:cNvPr id="10" name="Text 8"/>
          <p:cNvSpPr/>
          <p:nvPr/>
        </p:nvSpPr>
        <p:spPr>
          <a:xfrm>
            <a:off x="276148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0056" y="612648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C6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005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HOUSING_OFFICER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78624" y="612648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B3432B"/>
          </a:solidFill>
          <a:ln/>
        </p:spPr>
      </p:sp>
      <p:sp>
        <p:nvSpPr>
          <p:cNvPr id="14" name="Text 12"/>
          <p:cNvSpPr/>
          <p:nvPr/>
        </p:nvSpPr>
        <p:spPr>
          <a:xfrm>
            <a:off x="727862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TAX_OFFICER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537192" y="612648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2E7D4F"/>
          </a:solidFill>
          <a:ln/>
        </p:spPr>
      </p:sp>
      <p:sp>
        <p:nvSpPr>
          <p:cNvPr id="16" name="Text 14"/>
          <p:cNvSpPr/>
          <p:nvPr/>
        </p:nvSpPr>
        <p:spPr>
          <a:xfrm>
            <a:off x="9537192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55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66928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run typecheck (tsc)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run lint (ESLint)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verify:i18n script — catalog + key parity across 3 locales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— 424 keys matched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calculation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verify:tax — bracket, boundary, zero-rate, invalid-input tests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Rent-increase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verify:rent-increase — waiting period, cap, decrease cases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lifecycle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verify:workflow — 16-step scripted run against the real database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access, logout, QR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HTTP/session-level testing (curl with real sessions)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UI/browser regression, load/performance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performed in this project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4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further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Improvements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integrations are simulated — no real bank or mobile-money connection.</a:t>
            </a:r>
            <a:endParaRPr lang="en-US" sz="120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integration with the existing government housing portal (RHRCAS) observed during our investigation.</a:t>
            </a:r>
            <a:endParaRPr lang="en-US" sz="120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brackets are sourced, but a small rounding difference can occur exactly at a bracket boundary.</a:t>
            </a:r>
            <a:endParaRPr lang="en-US" sz="120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rent-increase figures (2 years, 11.5%) are project-owner-supplied requirements, not independently verified against a cited proclamation article.</a:t>
            </a:r>
            <a:endParaRPr lang="en-US" sz="1200" dirty="0"/>
          </a:p>
          <a:p>
            <a:pPr lvl="1" marL="4572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deployment; performance/load testing not yet performed.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integration with authorized government systems, where permitted.</a:t>
            </a:r>
            <a:endParaRPr lang="en-US" sz="120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payment-provider integration behind the existing interface.</a:t>
            </a:r>
            <a:endParaRPr lang="en-US" sz="120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stakeholder testing and formal performance/security testing.</a:t>
            </a:r>
            <a:endParaRPr lang="en-US" sz="1200" dirty="0"/>
          </a:p>
          <a:p>
            <a:pPr lvl="1" marL="4572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SMS/email notifications, document upload, and a tenant-initiated request-to-rent flow.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6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stakeholder investigation found that Addis Ababa's housing offices already use a digital portal, but tax verification still depends on a physical agreement moving between offices, with no shared record connecting the two.</a:t>
            </a:r>
            <a:endParaRPr lang="en-US" sz="14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is our prototype response: a single, role-based platform carrying a property and its agreement from registration through housing approval, tax assessment, and termination.</a:t>
            </a:r>
            <a:endParaRPr lang="en-US" sz="14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development, we identified and corrected real defects in our own implementation — a terminology error, a cross-role access-control gap, and an incorrect tax-rate model — and implemented the rental price-increase rule as a feature kept strictly separate from tax.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contribution: a working, evidence-based prototype — grounded in real stakeholder interviews and a real observed system, with disclosed limitations and a clear boundary between what is implemented, what is simulated, and what remains future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10881360" cy="0"/>
          </a:xfrm>
          <a:prstGeom prst="line">
            <a:avLst/>
          </a:prstGeom>
          <a:noFill/>
          <a:ln w="12700">
            <a:solidFill>
              <a:srgbClr val="3C4B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current prototype supports a connected, role-based, auditable rental and tax workflow — built and corrected through an evidence-based development process.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RHTMS — Integrated Digital House Rental and Tax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2026-09-16T18:56:58Z</dcterms:created>
  <dcterms:modified xsi:type="dcterms:W3CDTF">2026-09-16T18:56:58Z</dcterms:modified>
</cp:coreProperties>
</file>